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20"/>
  </p:notesMasterIdLst>
  <p:sldIdLst>
    <p:sldId id="256" r:id="rId2"/>
    <p:sldId id="263" r:id="rId3"/>
    <p:sldId id="264" r:id="rId4"/>
    <p:sldId id="257" r:id="rId5"/>
    <p:sldId id="258" r:id="rId6"/>
    <p:sldId id="259" r:id="rId7"/>
    <p:sldId id="260" r:id="rId8"/>
    <p:sldId id="262" r:id="rId9"/>
    <p:sldId id="261" r:id="rId10"/>
    <p:sldId id="265" r:id="rId11"/>
    <p:sldId id="266" r:id="rId12"/>
    <p:sldId id="267" r:id="rId13"/>
    <p:sldId id="268" r:id="rId14"/>
    <p:sldId id="269" r:id="rId15"/>
    <p:sldId id="270" r:id="rId16"/>
    <p:sldId id="271" r:id="rId17"/>
    <p:sldId id="273"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EAFA5B-DB9C-47B3-ADC1-53B48D17A53C}" v="61" dt="2025-12-14T22:45:56.2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tya gannapureddy" userId="85e5819d3827272c" providerId="LiveId" clId="{F624827D-0572-4BC0-B74A-299B2FD23DF8}"/>
    <pc:docChg chg="undo redo custSel addSld modSld">
      <pc:chgData name="satya gannapureddy" userId="85e5819d3827272c" providerId="LiveId" clId="{F624827D-0572-4BC0-B74A-299B2FD23DF8}" dt="2025-12-14T23:26:56.762" v="672" actId="478"/>
      <pc:docMkLst>
        <pc:docMk/>
      </pc:docMkLst>
      <pc:sldChg chg="addSp delSp modSp mod setBg delAnim delDesignElem">
        <pc:chgData name="satya gannapureddy" userId="85e5819d3827272c" providerId="LiveId" clId="{F624827D-0572-4BC0-B74A-299B2FD23DF8}" dt="2025-12-14T23:26:56.762" v="672" actId="478"/>
        <pc:sldMkLst>
          <pc:docMk/>
          <pc:sldMk cId="3275825790" sldId="256"/>
        </pc:sldMkLst>
        <pc:spChg chg="mod">
          <ac:chgData name="satya gannapureddy" userId="85e5819d3827272c" providerId="LiveId" clId="{F624827D-0572-4BC0-B74A-299B2FD23DF8}" dt="2025-12-04T21:17:32.082" v="590" actId="27636"/>
          <ac:spMkLst>
            <pc:docMk/>
            <pc:sldMk cId="3275825790" sldId="256"/>
            <ac:spMk id="2" creationId="{5185A895-35B4-2229-4671-3AB537CF0C89}"/>
          </ac:spMkLst>
        </pc:spChg>
        <pc:spChg chg="mod">
          <ac:chgData name="satya gannapureddy" userId="85e5819d3827272c" providerId="LiveId" clId="{F624827D-0572-4BC0-B74A-299B2FD23DF8}" dt="2025-12-04T23:11:23.384" v="625" actId="113"/>
          <ac:spMkLst>
            <pc:docMk/>
            <pc:sldMk cId="3275825790" sldId="256"/>
            <ac:spMk id="3" creationId="{9D357772-C7A2-76BB-08B0-DD4B5E62363D}"/>
          </ac:spMkLst>
        </pc:spChg>
        <pc:spChg chg="add del">
          <ac:chgData name="satya gannapureddy" userId="85e5819d3827272c" providerId="LiveId" clId="{F624827D-0572-4BC0-B74A-299B2FD23DF8}" dt="2025-12-14T23:26:56.762" v="672" actId="478"/>
          <ac:spMkLst>
            <pc:docMk/>
            <pc:sldMk cId="3275825790" sldId="256"/>
            <ac:spMk id="5" creationId="{C38FB4B3-7501-F1E2-DE40-CC7B8958AC12}"/>
          </ac:spMkLst>
        </pc:spChg>
        <pc:picChg chg="add del mod">
          <ac:chgData name="satya gannapureddy" userId="85e5819d3827272c" providerId="LiveId" clId="{F624827D-0572-4BC0-B74A-299B2FD23DF8}" dt="2025-12-14T23:25:05.884" v="651" actId="478"/>
          <ac:picMkLst>
            <pc:docMk/>
            <pc:sldMk cId="3275825790" sldId="256"/>
            <ac:picMk id="11" creationId="{EC455D5A-9829-E332-01C5-D59BC8863247}"/>
          </ac:picMkLst>
        </pc:picChg>
      </pc:sldChg>
      <pc:sldChg chg="addSp delSp modSp mod setBg delAnim setClrOvrMap delDesignElem">
        <pc:chgData name="satya gannapureddy" userId="85e5819d3827272c" providerId="LiveId" clId="{F624827D-0572-4BC0-B74A-299B2FD23DF8}" dt="2025-12-14T23:25:18.662" v="654" actId="478"/>
        <pc:sldMkLst>
          <pc:docMk/>
          <pc:sldMk cId="1204089612" sldId="257"/>
        </pc:sldMkLst>
        <pc:spChg chg="mod">
          <ac:chgData name="satya gannapureddy" userId="85e5819d3827272c" providerId="LiveId" clId="{F624827D-0572-4BC0-B74A-299B2FD23DF8}" dt="2025-11-21T00:24:32.707" v="386" actId="26606"/>
          <ac:spMkLst>
            <pc:docMk/>
            <pc:sldMk cId="1204089612" sldId="257"/>
            <ac:spMk id="2" creationId="{8028DF33-7211-E7CB-4C32-E0FE1ABC6008}"/>
          </ac:spMkLst>
        </pc:spChg>
        <pc:spChg chg="add mod">
          <ac:chgData name="satya gannapureddy" userId="85e5819d3827272c" providerId="LiveId" clId="{F624827D-0572-4BC0-B74A-299B2FD23DF8}" dt="2025-12-04T22:58:34.956" v="621" actId="207"/>
          <ac:spMkLst>
            <pc:docMk/>
            <pc:sldMk cId="1204089612" sldId="257"/>
            <ac:spMk id="4" creationId="{7530D457-AB50-59A4-4E43-EDF945F8908C}"/>
          </ac:spMkLst>
        </pc:spChg>
        <pc:spChg chg="add">
          <ac:chgData name="satya gannapureddy" userId="85e5819d3827272c" providerId="LiveId" clId="{F624827D-0572-4BC0-B74A-299B2FD23DF8}" dt="2025-12-04T21:18:06.541" v="601" actId="26606"/>
          <ac:spMkLst>
            <pc:docMk/>
            <pc:sldMk cId="1204089612" sldId="257"/>
            <ac:spMk id="12" creationId="{64C9EE1D-12BB-43F7-9A2A-893578DCA63A}"/>
          </ac:spMkLst>
        </pc:spChg>
        <pc:spChg chg="add">
          <ac:chgData name="satya gannapureddy" userId="85e5819d3827272c" providerId="LiveId" clId="{F624827D-0572-4BC0-B74A-299B2FD23DF8}" dt="2025-12-04T21:18:06.541" v="601" actId="26606"/>
          <ac:spMkLst>
            <pc:docMk/>
            <pc:sldMk cId="1204089612" sldId="257"/>
            <ac:spMk id="14" creationId="{43962A31-C54E-4762-B155-59777FED1C75}"/>
          </ac:spMkLst>
        </pc:spChg>
        <pc:spChg chg="add">
          <ac:chgData name="satya gannapureddy" userId="85e5819d3827272c" providerId="LiveId" clId="{F624827D-0572-4BC0-B74A-299B2FD23DF8}" dt="2025-12-04T21:18:06.541" v="601" actId="26606"/>
          <ac:spMkLst>
            <pc:docMk/>
            <pc:sldMk cId="1204089612" sldId="257"/>
            <ac:spMk id="16" creationId="{4B392D36-B685-45E0-B197-6EE5D748093B}"/>
          </ac:spMkLst>
        </pc:spChg>
        <pc:spChg chg="add">
          <ac:chgData name="satya gannapureddy" userId="85e5819d3827272c" providerId="LiveId" clId="{F624827D-0572-4BC0-B74A-299B2FD23DF8}" dt="2025-12-04T21:18:06.541" v="601" actId="26606"/>
          <ac:spMkLst>
            <pc:docMk/>
            <pc:sldMk cId="1204089612" sldId="257"/>
            <ac:spMk id="18" creationId="{9DCA8533-CC5E-4754-9A04-047EDE49E0F9}"/>
          </ac:spMkLst>
        </pc:spChg>
        <pc:picChg chg="mod ord">
          <ac:chgData name="satya gannapureddy" userId="85e5819d3827272c" providerId="LiveId" clId="{F624827D-0572-4BC0-B74A-299B2FD23DF8}" dt="2025-12-04T21:18:13.200" v="604" actId="14100"/>
          <ac:picMkLst>
            <pc:docMk/>
            <pc:sldMk cId="1204089612" sldId="257"/>
            <ac:picMk id="5" creationId="{FC27ACB7-8F36-5ED5-5888-51335844DBCA}"/>
          </ac:picMkLst>
        </pc:picChg>
        <pc:picChg chg="mod ord">
          <ac:chgData name="satya gannapureddy" userId="85e5819d3827272c" providerId="LiveId" clId="{F624827D-0572-4BC0-B74A-299B2FD23DF8}" dt="2025-12-04T21:18:23.225" v="609" actId="14100"/>
          <ac:picMkLst>
            <pc:docMk/>
            <pc:sldMk cId="1204089612" sldId="257"/>
            <ac:picMk id="7" creationId="{34B068E1-9F36-BBC7-9D9B-EC61248C4EB8}"/>
          </ac:picMkLst>
        </pc:picChg>
        <pc:picChg chg="add del mod">
          <ac:chgData name="satya gannapureddy" userId="85e5819d3827272c" providerId="LiveId" clId="{F624827D-0572-4BC0-B74A-299B2FD23DF8}" dt="2025-12-14T23:25:18.662" v="654" actId="478"/>
          <ac:picMkLst>
            <pc:docMk/>
            <pc:sldMk cId="1204089612" sldId="257"/>
            <ac:picMk id="13" creationId="{38BB2C3F-4785-DBDC-D47E-3EE8EF213FC8}"/>
          </ac:picMkLst>
        </pc:picChg>
      </pc:sldChg>
      <pc:sldChg chg="addSp delSp modSp mod setBg delAnim setClrOvrMap delDesignElem">
        <pc:chgData name="satya gannapureddy" userId="85e5819d3827272c" providerId="LiveId" clId="{F624827D-0572-4BC0-B74A-299B2FD23DF8}" dt="2025-12-14T23:25:24.175" v="655" actId="478"/>
        <pc:sldMkLst>
          <pc:docMk/>
          <pc:sldMk cId="388624737" sldId="258"/>
        </pc:sldMkLst>
        <pc:spChg chg="mod">
          <ac:chgData name="satya gannapureddy" userId="85e5819d3827272c" providerId="LiveId" clId="{F624827D-0572-4BC0-B74A-299B2FD23DF8}" dt="2025-12-04T21:18:28.890" v="610" actId="26606"/>
          <ac:spMkLst>
            <pc:docMk/>
            <pc:sldMk cId="388624737" sldId="258"/>
            <ac:spMk id="2" creationId="{B8F80C4B-C975-06BA-FADF-BF03DE1F1131}"/>
          </ac:spMkLst>
        </pc:spChg>
        <pc:spChg chg="add">
          <ac:chgData name="satya gannapureddy" userId="85e5819d3827272c" providerId="LiveId" clId="{F624827D-0572-4BC0-B74A-299B2FD23DF8}" dt="2025-12-04T21:18:28.890" v="610" actId="26606"/>
          <ac:spMkLst>
            <pc:docMk/>
            <pc:sldMk cId="388624737" sldId="258"/>
            <ac:spMk id="10" creationId="{DB8424AB-D56B-4256-866A-5B54DE93C20F}"/>
          </ac:spMkLst>
        </pc:spChg>
        <pc:spChg chg="add">
          <ac:chgData name="satya gannapureddy" userId="85e5819d3827272c" providerId="LiveId" clId="{F624827D-0572-4BC0-B74A-299B2FD23DF8}" dt="2025-12-04T21:18:28.890" v="610" actId="26606"/>
          <ac:spMkLst>
            <pc:docMk/>
            <pc:sldMk cId="388624737" sldId="258"/>
            <ac:spMk id="12" creationId="{FC999C28-AD33-4EB7-A5F1-C06D10A5FDF7}"/>
          </ac:spMkLst>
        </pc:spChg>
        <pc:spChg chg="add">
          <ac:chgData name="satya gannapureddy" userId="85e5819d3827272c" providerId="LiveId" clId="{F624827D-0572-4BC0-B74A-299B2FD23DF8}" dt="2025-12-04T21:18:28.890" v="610" actId="26606"/>
          <ac:spMkLst>
            <pc:docMk/>
            <pc:sldMk cId="388624737" sldId="258"/>
            <ac:spMk id="14" creationId="{0864E5C9-52C9-4572-AC75-548B9B9C2648}"/>
          </ac:spMkLst>
        </pc:spChg>
        <pc:spChg chg="add">
          <ac:chgData name="satya gannapureddy" userId="85e5819d3827272c" providerId="LiveId" clId="{F624827D-0572-4BC0-B74A-299B2FD23DF8}" dt="2025-12-04T21:18:28.890" v="610" actId="26606"/>
          <ac:spMkLst>
            <pc:docMk/>
            <pc:sldMk cId="388624737" sldId="258"/>
            <ac:spMk id="16" creationId="{45CC6500-4DBD-4C34-BC14-2387FB483BEB}"/>
          </ac:spMkLst>
        </pc:spChg>
        <pc:spChg chg="add">
          <ac:chgData name="satya gannapureddy" userId="85e5819d3827272c" providerId="LiveId" clId="{F624827D-0572-4BC0-B74A-299B2FD23DF8}" dt="2025-12-04T21:18:28.890" v="610" actId="26606"/>
          <ac:spMkLst>
            <pc:docMk/>
            <pc:sldMk cId="388624737" sldId="258"/>
            <ac:spMk id="18" creationId="{4E34A3B6-BAD2-4156-BDC6-4736248BFDE0}"/>
          </ac:spMkLst>
        </pc:spChg>
        <pc:picChg chg="mod">
          <ac:chgData name="satya gannapureddy" userId="85e5819d3827272c" providerId="LiveId" clId="{F624827D-0572-4BC0-B74A-299B2FD23DF8}" dt="2025-12-04T21:18:28.890" v="610" actId="26606"/>
          <ac:picMkLst>
            <pc:docMk/>
            <pc:sldMk cId="388624737" sldId="258"/>
            <ac:picMk id="5" creationId="{968FCD5E-1614-C33A-37FA-E0BA6E2E58E7}"/>
          </ac:picMkLst>
        </pc:picChg>
        <pc:picChg chg="add del mod">
          <ac:chgData name="satya gannapureddy" userId="85e5819d3827272c" providerId="LiveId" clId="{F624827D-0572-4BC0-B74A-299B2FD23DF8}" dt="2025-12-14T23:25:24.175" v="655" actId="478"/>
          <ac:picMkLst>
            <pc:docMk/>
            <pc:sldMk cId="388624737" sldId="258"/>
            <ac:picMk id="9" creationId="{75B29713-B01C-C172-EEDB-F77710D79C78}"/>
          </ac:picMkLst>
        </pc:picChg>
      </pc:sldChg>
      <pc:sldChg chg="addSp delSp modSp mod setBg delAnim delDesignElem modNotesTx">
        <pc:chgData name="satya gannapureddy" userId="85e5819d3827272c" providerId="LiveId" clId="{F624827D-0572-4BC0-B74A-299B2FD23DF8}" dt="2025-12-14T23:25:33.641" v="657" actId="478"/>
        <pc:sldMkLst>
          <pc:docMk/>
          <pc:sldMk cId="2000549967" sldId="259"/>
        </pc:sldMkLst>
        <pc:spChg chg="mod">
          <ac:chgData name="satya gannapureddy" userId="85e5819d3827272c" providerId="LiveId" clId="{F624827D-0572-4BC0-B74A-299B2FD23DF8}" dt="2025-12-04T23:58:18.348" v="635" actId="1076"/>
          <ac:spMkLst>
            <pc:docMk/>
            <pc:sldMk cId="2000549967" sldId="259"/>
            <ac:spMk id="2" creationId="{D01EEF09-B556-6F1D-14FE-48ABF38D7084}"/>
          </ac:spMkLst>
        </pc:spChg>
        <pc:picChg chg="mod">
          <ac:chgData name="satya gannapureddy" userId="85e5819d3827272c" providerId="LiveId" clId="{F624827D-0572-4BC0-B74A-299B2FD23DF8}" dt="2025-11-21T00:25:22.203" v="396" actId="14100"/>
          <ac:picMkLst>
            <pc:docMk/>
            <pc:sldMk cId="2000549967" sldId="259"/>
            <ac:picMk id="5" creationId="{8D510583-DE65-D4C2-7CA9-146113C0DAC4}"/>
          </ac:picMkLst>
        </pc:picChg>
        <pc:picChg chg="mod">
          <ac:chgData name="satya gannapureddy" userId="85e5819d3827272c" providerId="LiveId" clId="{F624827D-0572-4BC0-B74A-299B2FD23DF8}" dt="2025-11-21T00:25:27.644" v="399" actId="14100"/>
          <ac:picMkLst>
            <pc:docMk/>
            <pc:sldMk cId="2000549967" sldId="259"/>
            <ac:picMk id="7" creationId="{B301ACB1-BA7E-F7C1-103C-11AC69A9E527}"/>
          </ac:picMkLst>
        </pc:picChg>
        <pc:picChg chg="add del mod">
          <ac:chgData name="satya gannapureddy" userId="85e5819d3827272c" providerId="LiveId" clId="{F624827D-0572-4BC0-B74A-299B2FD23DF8}" dt="2025-12-14T23:25:33.641" v="657" actId="478"/>
          <ac:picMkLst>
            <pc:docMk/>
            <pc:sldMk cId="2000549967" sldId="259"/>
            <ac:picMk id="10" creationId="{F09B35DD-7D3B-F4E9-2FFF-C44F6C908AA6}"/>
          </ac:picMkLst>
        </pc:picChg>
      </pc:sldChg>
      <pc:sldChg chg="addSp delSp modSp mod setBg delAnim delDesignElem">
        <pc:chgData name="satya gannapureddy" userId="85e5819d3827272c" providerId="LiveId" clId="{F624827D-0572-4BC0-B74A-299B2FD23DF8}" dt="2025-12-14T23:25:37.338" v="658" actId="478"/>
        <pc:sldMkLst>
          <pc:docMk/>
          <pc:sldMk cId="2601876294" sldId="260"/>
        </pc:sldMkLst>
        <pc:spChg chg="mod">
          <ac:chgData name="satya gannapureddy" userId="85e5819d3827272c" providerId="LiveId" clId="{F624827D-0572-4BC0-B74A-299B2FD23DF8}" dt="2025-11-21T00:05:13.595" v="261" actId="26606"/>
          <ac:spMkLst>
            <pc:docMk/>
            <pc:sldMk cId="2601876294" sldId="260"/>
            <ac:spMk id="2" creationId="{5DBA7849-CFD1-F889-D035-336EB83A8715}"/>
          </ac:spMkLst>
        </pc:spChg>
        <pc:picChg chg="mod">
          <ac:chgData name="satya gannapureddy" userId="85e5819d3827272c" providerId="LiveId" clId="{F624827D-0572-4BC0-B74A-299B2FD23DF8}" dt="2025-11-21T00:25:31.724" v="400" actId="1076"/>
          <ac:picMkLst>
            <pc:docMk/>
            <pc:sldMk cId="2601876294" sldId="260"/>
            <ac:picMk id="5" creationId="{79BA2FDF-0DFF-70A2-BC63-5FF7027650DF}"/>
          </ac:picMkLst>
        </pc:picChg>
        <pc:picChg chg="add del mod">
          <ac:chgData name="satya gannapureddy" userId="85e5819d3827272c" providerId="LiveId" clId="{F624827D-0572-4BC0-B74A-299B2FD23DF8}" dt="2025-12-14T23:25:37.338" v="658" actId="478"/>
          <ac:picMkLst>
            <pc:docMk/>
            <pc:sldMk cId="2601876294" sldId="260"/>
            <ac:picMk id="9" creationId="{7905B470-1675-4795-F5AE-993F671A4047}"/>
          </ac:picMkLst>
        </pc:picChg>
      </pc:sldChg>
      <pc:sldChg chg="addSp delSp modSp mod setBg delAnim delDesignElem">
        <pc:chgData name="satya gannapureddy" userId="85e5819d3827272c" providerId="LiveId" clId="{F624827D-0572-4BC0-B74A-299B2FD23DF8}" dt="2025-12-14T23:25:49.965" v="660" actId="478"/>
        <pc:sldMkLst>
          <pc:docMk/>
          <pc:sldMk cId="2907547321" sldId="261"/>
        </pc:sldMkLst>
        <pc:spChg chg="mod">
          <ac:chgData name="satya gannapureddy" userId="85e5819d3827272c" providerId="LiveId" clId="{F624827D-0572-4BC0-B74A-299B2FD23DF8}" dt="2025-12-04T21:18:42.620" v="611" actId="1076"/>
          <ac:spMkLst>
            <pc:docMk/>
            <pc:sldMk cId="2907547321" sldId="261"/>
            <ac:spMk id="2" creationId="{8C134DEE-4E4C-B2EF-17F5-4CF94A2CF349}"/>
          </ac:spMkLst>
        </pc:spChg>
        <pc:picChg chg="mod">
          <ac:chgData name="satya gannapureddy" userId="85e5819d3827272c" providerId="LiveId" clId="{F624827D-0572-4BC0-B74A-299B2FD23DF8}" dt="2025-11-21T00:25:40.314" v="402" actId="1076"/>
          <ac:picMkLst>
            <pc:docMk/>
            <pc:sldMk cId="2907547321" sldId="261"/>
            <ac:picMk id="5" creationId="{71AC7F8C-8271-539F-1312-24861618D0DB}"/>
          </ac:picMkLst>
        </pc:picChg>
        <pc:picChg chg="add del mod">
          <ac:chgData name="satya gannapureddy" userId="85e5819d3827272c" providerId="LiveId" clId="{F624827D-0572-4BC0-B74A-299B2FD23DF8}" dt="2025-12-14T23:25:49.965" v="660" actId="478"/>
          <ac:picMkLst>
            <pc:docMk/>
            <pc:sldMk cId="2907547321" sldId="261"/>
            <ac:picMk id="8" creationId="{389A1867-11BA-3970-0629-EFC82EA987D6}"/>
          </ac:picMkLst>
        </pc:picChg>
      </pc:sldChg>
      <pc:sldChg chg="addSp delSp modSp mod setBg delAnim delDesignElem">
        <pc:chgData name="satya gannapureddy" userId="85e5819d3827272c" providerId="LiveId" clId="{F624827D-0572-4BC0-B74A-299B2FD23DF8}" dt="2025-12-14T23:25:41.605" v="659" actId="478"/>
        <pc:sldMkLst>
          <pc:docMk/>
          <pc:sldMk cId="3350652946" sldId="262"/>
        </pc:sldMkLst>
        <pc:spChg chg="mod">
          <ac:chgData name="satya gannapureddy" userId="85e5819d3827272c" providerId="LiveId" clId="{F624827D-0572-4BC0-B74A-299B2FD23DF8}" dt="2025-11-21T00:05:23.604" v="265" actId="26606"/>
          <ac:spMkLst>
            <pc:docMk/>
            <pc:sldMk cId="3350652946" sldId="262"/>
            <ac:spMk id="2" creationId="{18DF4185-F0AC-5219-131C-5A1C54B85608}"/>
          </ac:spMkLst>
        </pc:spChg>
        <pc:picChg chg="mod">
          <ac:chgData name="satya gannapureddy" userId="85e5819d3827272c" providerId="LiveId" clId="{F624827D-0572-4BC0-B74A-299B2FD23DF8}" dt="2025-12-04T21:17:31.967" v="589"/>
          <ac:picMkLst>
            <pc:docMk/>
            <pc:sldMk cId="3350652946" sldId="262"/>
            <ac:picMk id="4" creationId="{756C8B8B-6CA9-B911-0D13-3349A91C1635}"/>
          </ac:picMkLst>
        </pc:picChg>
        <pc:picChg chg="add del mod">
          <ac:chgData name="satya gannapureddy" userId="85e5819d3827272c" providerId="LiveId" clId="{F624827D-0572-4BC0-B74A-299B2FD23DF8}" dt="2025-12-14T23:25:41.605" v="659" actId="478"/>
          <ac:picMkLst>
            <pc:docMk/>
            <pc:sldMk cId="3350652946" sldId="262"/>
            <ac:picMk id="9" creationId="{C5AF2EAB-35FC-F104-9BBC-43E49F935622}"/>
          </ac:picMkLst>
        </pc:picChg>
      </pc:sldChg>
      <pc:sldChg chg="addSp delSp modSp mod setBg delAnim setClrOvrMap delDesignElem">
        <pc:chgData name="satya gannapureddy" userId="85e5819d3827272c" providerId="LiveId" clId="{F624827D-0572-4BC0-B74A-299B2FD23DF8}" dt="2025-12-14T23:25:10.570" v="652" actId="478"/>
        <pc:sldMkLst>
          <pc:docMk/>
          <pc:sldMk cId="240935801" sldId="263"/>
        </pc:sldMkLst>
        <pc:spChg chg="mod">
          <ac:chgData name="satya gannapureddy" userId="85e5819d3827272c" providerId="LiveId" clId="{F624827D-0572-4BC0-B74A-299B2FD23DF8}" dt="2025-12-04T23:15:43.761" v="634" actId="207"/>
          <ac:spMkLst>
            <pc:docMk/>
            <pc:sldMk cId="240935801" sldId="263"/>
            <ac:spMk id="2" creationId="{246A655E-DB07-6BFC-ED3F-99B77B901FDD}"/>
          </ac:spMkLst>
        </pc:spChg>
        <pc:spChg chg="mod">
          <ac:chgData name="satya gannapureddy" userId="85e5819d3827272c" providerId="LiveId" clId="{F624827D-0572-4BC0-B74A-299B2FD23DF8}" dt="2025-12-04T23:15:26.548" v="631" actId="1076"/>
          <ac:spMkLst>
            <pc:docMk/>
            <pc:sldMk cId="240935801" sldId="263"/>
            <ac:spMk id="3" creationId="{1238C89D-50AE-0CC9-94FE-89A8F3CB3CA5}"/>
          </ac:spMkLst>
        </pc:spChg>
        <pc:picChg chg="add del mod">
          <ac:chgData name="satya gannapureddy" userId="85e5819d3827272c" providerId="LiveId" clId="{F624827D-0572-4BC0-B74A-299B2FD23DF8}" dt="2025-12-14T23:25:10.570" v="652" actId="478"/>
          <ac:picMkLst>
            <pc:docMk/>
            <pc:sldMk cId="240935801" sldId="263"/>
            <ac:picMk id="15" creationId="{7F5505CA-2684-3FA0-CD3E-5C87EB8BDADE}"/>
          </ac:picMkLst>
        </pc:picChg>
      </pc:sldChg>
      <pc:sldChg chg="addSp delSp modSp mod setBg delAnim setClrOvrMap delDesignElem">
        <pc:chgData name="satya gannapureddy" userId="85e5819d3827272c" providerId="LiveId" clId="{F624827D-0572-4BC0-B74A-299B2FD23DF8}" dt="2025-12-14T23:25:14.713" v="653" actId="478"/>
        <pc:sldMkLst>
          <pc:docMk/>
          <pc:sldMk cId="3303809581" sldId="264"/>
        </pc:sldMkLst>
        <pc:spChg chg="mod">
          <ac:chgData name="satya gannapureddy" userId="85e5819d3827272c" providerId="LiveId" clId="{F624827D-0572-4BC0-B74A-299B2FD23DF8}" dt="2025-11-21T00:22:02.536" v="348" actId="26606"/>
          <ac:spMkLst>
            <pc:docMk/>
            <pc:sldMk cId="3303809581" sldId="264"/>
            <ac:spMk id="2" creationId="{2B44D9BB-F09D-2255-207A-46D645946E1D}"/>
          </ac:spMkLst>
        </pc:spChg>
        <pc:spChg chg="mod">
          <ac:chgData name="satya gannapureddy" userId="85e5819d3827272c" providerId="LiveId" clId="{F624827D-0572-4BC0-B74A-299B2FD23DF8}" dt="2025-12-04T23:13:35.407" v="627" actId="313"/>
          <ac:spMkLst>
            <pc:docMk/>
            <pc:sldMk cId="3303809581" sldId="264"/>
            <ac:spMk id="5" creationId="{A0072A98-89E8-A178-8B3C-3FB6BFBCBCB0}"/>
          </ac:spMkLst>
        </pc:spChg>
        <pc:picChg chg="add del mod">
          <ac:chgData name="satya gannapureddy" userId="85e5819d3827272c" providerId="LiveId" clId="{F624827D-0572-4BC0-B74A-299B2FD23DF8}" dt="2025-12-14T23:25:14.713" v="653" actId="478"/>
          <ac:picMkLst>
            <pc:docMk/>
            <pc:sldMk cId="3303809581" sldId="264"/>
            <ac:picMk id="11" creationId="{B39B15F6-228A-4807-5BD4-A94FFDA1D424}"/>
          </ac:picMkLst>
        </pc:picChg>
      </pc:sldChg>
      <pc:sldChg chg="addSp delSp modSp mod setBg delAnim delDesignElem">
        <pc:chgData name="satya gannapureddy" userId="85e5819d3827272c" providerId="LiveId" clId="{F624827D-0572-4BC0-B74A-299B2FD23DF8}" dt="2025-12-14T23:25:54.398" v="661" actId="478"/>
        <pc:sldMkLst>
          <pc:docMk/>
          <pc:sldMk cId="2914368577" sldId="265"/>
        </pc:sldMkLst>
        <pc:spChg chg="mod">
          <ac:chgData name="satya gannapureddy" userId="85e5819d3827272c" providerId="LiveId" clId="{F624827D-0572-4BC0-B74A-299B2FD23DF8}" dt="2025-12-04T21:18:46.436" v="612" actId="1076"/>
          <ac:spMkLst>
            <pc:docMk/>
            <pc:sldMk cId="2914368577" sldId="265"/>
            <ac:spMk id="2" creationId="{A293CF16-3582-42C4-5B40-54058D2E1CF9}"/>
          </ac:spMkLst>
        </pc:spChg>
        <pc:spChg chg="mod">
          <ac:chgData name="satya gannapureddy" userId="85e5819d3827272c" providerId="LiveId" clId="{F624827D-0572-4BC0-B74A-299B2FD23DF8}" dt="2025-12-04T22:59:02.593" v="622" actId="14100"/>
          <ac:spMkLst>
            <pc:docMk/>
            <pc:sldMk cId="2914368577" sldId="265"/>
            <ac:spMk id="3" creationId="{7D9B3230-36C6-B50F-49D6-12B18F81F0C8}"/>
          </ac:spMkLst>
        </pc:spChg>
        <pc:picChg chg="add del mod">
          <ac:chgData name="satya gannapureddy" userId="85e5819d3827272c" providerId="LiveId" clId="{F624827D-0572-4BC0-B74A-299B2FD23DF8}" dt="2025-12-14T23:25:54.398" v="661" actId="478"/>
          <ac:picMkLst>
            <pc:docMk/>
            <pc:sldMk cId="2914368577" sldId="265"/>
            <ac:picMk id="8" creationId="{389990B4-4FD9-EB12-92F0-CC200BB29403}"/>
          </ac:picMkLst>
        </pc:picChg>
      </pc:sldChg>
      <pc:sldChg chg="addSp delSp modSp new mod setBg delAnim delDesignElem">
        <pc:chgData name="satya gannapureddy" userId="85e5819d3827272c" providerId="LiveId" clId="{F624827D-0572-4BC0-B74A-299B2FD23DF8}" dt="2025-12-14T23:25:57.705" v="662" actId="478"/>
        <pc:sldMkLst>
          <pc:docMk/>
          <pc:sldMk cId="860284676" sldId="266"/>
        </pc:sldMkLst>
        <pc:spChg chg="mod">
          <ac:chgData name="satya gannapureddy" userId="85e5819d3827272c" providerId="LiveId" clId="{F624827D-0572-4BC0-B74A-299B2FD23DF8}" dt="2025-11-21T00:25:49.424" v="404" actId="1076"/>
          <ac:spMkLst>
            <pc:docMk/>
            <pc:sldMk cId="860284676" sldId="266"/>
            <ac:spMk id="2" creationId="{8E67A23A-3C17-585B-8A00-571455C060B4}"/>
          </ac:spMkLst>
        </pc:spChg>
        <pc:spChg chg="mod">
          <ac:chgData name="satya gannapureddy" userId="85e5819d3827272c" providerId="LiveId" clId="{F624827D-0572-4BC0-B74A-299B2FD23DF8}" dt="2025-12-04T21:19:11.520" v="614" actId="14100"/>
          <ac:spMkLst>
            <pc:docMk/>
            <pc:sldMk cId="860284676" sldId="266"/>
            <ac:spMk id="3" creationId="{83EC2665-724B-A8D5-BE8F-33650FB9830A}"/>
          </ac:spMkLst>
        </pc:spChg>
        <pc:picChg chg="add del mod">
          <ac:chgData name="satya gannapureddy" userId="85e5819d3827272c" providerId="LiveId" clId="{F624827D-0572-4BC0-B74A-299B2FD23DF8}" dt="2025-12-14T23:25:57.705" v="662" actId="478"/>
          <ac:picMkLst>
            <pc:docMk/>
            <pc:sldMk cId="860284676" sldId="266"/>
            <ac:picMk id="8" creationId="{F9C1F0D8-3EF2-A499-F8EF-6A2BA39D68A7}"/>
          </ac:picMkLst>
        </pc:picChg>
      </pc:sldChg>
      <pc:sldChg chg="addSp delSp modSp new mod setBg delAnim delDesignElem">
        <pc:chgData name="satya gannapureddy" userId="85e5819d3827272c" providerId="LiveId" clId="{F624827D-0572-4BC0-B74A-299B2FD23DF8}" dt="2025-12-14T23:26:02.465" v="663" actId="478"/>
        <pc:sldMkLst>
          <pc:docMk/>
          <pc:sldMk cId="839699589" sldId="267"/>
        </pc:sldMkLst>
        <pc:spChg chg="mod">
          <ac:chgData name="satya gannapureddy" userId="85e5819d3827272c" providerId="LiveId" clId="{F624827D-0572-4BC0-B74A-299B2FD23DF8}" dt="2025-12-04T23:02:39.951" v="623" actId="255"/>
          <ac:spMkLst>
            <pc:docMk/>
            <pc:sldMk cId="839699589" sldId="267"/>
            <ac:spMk id="2" creationId="{362FF633-8CC7-C474-7FAB-D165716A4E96}"/>
          </ac:spMkLst>
        </pc:spChg>
        <pc:spChg chg="mod">
          <ac:chgData name="satya gannapureddy" userId="85e5819d3827272c" providerId="LiveId" clId="{F624827D-0572-4BC0-B74A-299B2FD23DF8}" dt="2025-12-04T21:19:21.951" v="615" actId="14100"/>
          <ac:spMkLst>
            <pc:docMk/>
            <pc:sldMk cId="839699589" sldId="267"/>
            <ac:spMk id="3" creationId="{2B518C10-53BA-F2ED-7990-E0A92D8983EF}"/>
          </ac:spMkLst>
        </pc:spChg>
        <pc:picChg chg="add del mod">
          <ac:chgData name="satya gannapureddy" userId="85e5819d3827272c" providerId="LiveId" clId="{F624827D-0572-4BC0-B74A-299B2FD23DF8}" dt="2025-12-14T23:26:02.465" v="663" actId="478"/>
          <ac:picMkLst>
            <pc:docMk/>
            <pc:sldMk cId="839699589" sldId="267"/>
            <ac:picMk id="8" creationId="{BE249754-E90C-ACC7-C517-0D876FE937F4}"/>
          </ac:picMkLst>
        </pc:picChg>
      </pc:sldChg>
      <pc:sldChg chg="addSp delSp modSp new mod setBg delAnim delDesignElem">
        <pc:chgData name="satya gannapureddy" userId="85e5819d3827272c" providerId="LiveId" clId="{F624827D-0572-4BC0-B74A-299B2FD23DF8}" dt="2025-12-14T23:26:08.434" v="665" actId="478"/>
        <pc:sldMkLst>
          <pc:docMk/>
          <pc:sldMk cId="3806172127" sldId="268"/>
        </pc:sldMkLst>
        <pc:spChg chg="mod">
          <ac:chgData name="satya gannapureddy" userId="85e5819d3827272c" providerId="LiveId" clId="{F624827D-0572-4BC0-B74A-299B2FD23DF8}" dt="2025-11-21T00:26:22.379" v="411" actId="1076"/>
          <ac:spMkLst>
            <pc:docMk/>
            <pc:sldMk cId="3806172127" sldId="268"/>
            <ac:spMk id="2" creationId="{615AF682-B0A7-FEA9-EC15-4726F0DBED07}"/>
          </ac:spMkLst>
        </pc:spChg>
        <pc:picChg chg="add del mod">
          <ac:chgData name="satya gannapureddy" userId="85e5819d3827272c" providerId="LiveId" clId="{F624827D-0572-4BC0-B74A-299B2FD23DF8}" dt="2025-12-14T22:35:17.651" v="640"/>
          <ac:picMkLst>
            <pc:docMk/>
            <pc:sldMk cId="3806172127" sldId="268"/>
            <ac:picMk id="3" creationId="{F3872018-6DB5-9A3E-11A9-23DCDB061055}"/>
          </ac:picMkLst>
        </pc:picChg>
        <pc:picChg chg="add mod">
          <ac:chgData name="satya gannapureddy" userId="85e5819d3827272c" providerId="LiveId" clId="{F624827D-0572-4BC0-B74A-299B2FD23DF8}" dt="2025-12-04T21:02:18.896" v="543" actId="1076"/>
          <ac:picMkLst>
            <pc:docMk/>
            <pc:sldMk cId="3806172127" sldId="268"/>
            <ac:picMk id="4" creationId="{BECBD43B-3A86-12FD-5726-60E97208A13B}"/>
          </ac:picMkLst>
        </pc:picChg>
        <pc:picChg chg="add del mod">
          <ac:chgData name="satya gannapureddy" userId="85e5819d3827272c" providerId="LiveId" clId="{F624827D-0572-4BC0-B74A-299B2FD23DF8}" dt="2025-12-14T22:35:17.651" v="640"/>
          <ac:picMkLst>
            <pc:docMk/>
            <pc:sldMk cId="3806172127" sldId="268"/>
            <ac:picMk id="5" creationId="{7A0D1426-9FA3-DBA4-6A2F-00844B47527C}"/>
          </ac:picMkLst>
        </pc:picChg>
        <pc:picChg chg="add del mod">
          <ac:chgData name="satya gannapureddy" userId="85e5819d3827272c" providerId="LiveId" clId="{F624827D-0572-4BC0-B74A-299B2FD23DF8}" dt="2025-12-14T23:26:08.434" v="665" actId="478"/>
          <ac:picMkLst>
            <pc:docMk/>
            <pc:sldMk cId="3806172127" sldId="268"/>
            <ac:picMk id="6" creationId="{B6D0B53E-59D1-FDE2-E6E2-07580C58E367}"/>
          </ac:picMkLst>
        </pc:picChg>
        <pc:picChg chg="add del mod">
          <ac:chgData name="satya gannapureddy" userId="85e5819d3827272c" providerId="LiveId" clId="{F624827D-0572-4BC0-B74A-299B2FD23DF8}" dt="2025-12-14T23:26:06.223" v="664" actId="478"/>
          <ac:picMkLst>
            <pc:docMk/>
            <pc:sldMk cId="3806172127" sldId="268"/>
            <ac:picMk id="7" creationId="{906D8E7F-B3A6-7236-FA22-09F293E70603}"/>
          </ac:picMkLst>
        </pc:picChg>
      </pc:sldChg>
      <pc:sldChg chg="addSp delSp modSp new mod setBg delAnim setClrOvrMap delDesignElem">
        <pc:chgData name="satya gannapureddy" userId="85e5819d3827272c" providerId="LiveId" clId="{F624827D-0572-4BC0-B74A-299B2FD23DF8}" dt="2025-12-14T23:26:12.495" v="666" actId="478"/>
        <pc:sldMkLst>
          <pc:docMk/>
          <pc:sldMk cId="2847318429" sldId="269"/>
        </pc:sldMkLst>
        <pc:picChg chg="add mod">
          <ac:chgData name="satya gannapureddy" userId="85e5819d3827272c" providerId="LiveId" clId="{F624827D-0572-4BC0-B74A-299B2FD23DF8}" dt="2025-12-04T21:09:38.836" v="572" actId="27614"/>
          <ac:picMkLst>
            <pc:docMk/>
            <pc:sldMk cId="2847318429" sldId="269"/>
            <ac:picMk id="6" creationId="{8934D49E-DE71-BC6E-E858-3660C751F7FD}"/>
          </ac:picMkLst>
        </pc:picChg>
        <pc:picChg chg="add del mod">
          <ac:chgData name="satya gannapureddy" userId="85e5819d3827272c" providerId="LiveId" clId="{F624827D-0572-4BC0-B74A-299B2FD23DF8}" dt="2025-12-14T23:26:12.495" v="666" actId="478"/>
          <ac:picMkLst>
            <pc:docMk/>
            <pc:sldMk cId="2847318429" sldId="269"/>
            <ac:picMk id="7" creationId="{0EF53C34-56A9-EBBA-E8E1-6CB3741AD23D}"/>
          </ac:picMkLst>
        </pc:picChg>
      </pc:sldChg>
      <pc:sldChg chg="addSp delSp modSp new mod setBg delAnim delDesignElem">
        <pc:chgData name="satya gannapureddy" userId="85e5819d3827272c" providerId="LiveId" clId="{F624827D-0572-4BC0-B74A-299B2FD23DF8}" dt="2025-12-14T23:26:16.352" v="667" actId="478"/>
        <pc:sldMkLst>
          <pc:docMk/>
          <pc:sldMk cId="4018825647" sldId="270"/>
        </pc:sldMkLst>
        <pc:spChg chg="mod">
          <ac:chgData name="satya gannapureddy" userId="85e5819d3827272c" providerId="LiveId" clId="{F624827D-0572-4BC0-B74A-299B2FD23DF8}" dt="2025-12-04T21:17:32.155" v="594" actId="27636"/>
          <ac:spMkLst>
            <pc:docMk/>
            <pc:sldMk cId="4018825647" sldId="270"/>
            <ac:spMk id="2" creationId="{2C46D0C2-3ABA-A8FA-4090-CADC202E937C}"/>
          </ac:spMkLst>
        </pc:spChg>
        <pc:spChg chg="add mod">
          <ac:chgData name="satya gannapureddy" userId="85e5819d3827272c" providerId="LiveId" clId="{F624827D-0572-4BC0-B74A-299B2FD23DF8}" dt="2025-12-04T21:17:32.164" v="595" actId="27636"/>
          <ac:spMkLst>
            <pc:docMk/>
            <pc:sldMk cId="4018825647" sldId="270"/>
            <ac:spMk id="19" creationId="{D51BAF05-51AC-FC6A-2A84-85BF122196A7}"/>
          </ac:spMkLst>
        </pc:spChg>
        <pc:picChg chg="add del mod">
          <ac:chgData name="satya gannapureddy" userId="85e5819d3827272c" providerId="LiveId" clId="{F624827D-0572-4BC0-B74A-299B2FD23DF8}" dt="2025-12-14T23:26:16.352" v="667" actId="478"/>
          <ac:picMkLst>
            <pc:docMk/>
            <pc:sldMk cId="4018825647" sldId="270"/>
            <ac:picMk id="7" creationId="{62E7C4C5-0444-D770-57DB-48EC506FF65F}"/>
          </ac:picMkLst>
        </pc:picChg>
      </pc:sldChg>
      <pc:sldChg chg="addSp delSp modSp new mod modTransition setBg delAnim modAnim delDesignElem modNotesTx">
        <pc:chgData name="satya gannapureddy" userId="85e5819d3827272c" providerId="LiveId" clId="{F624827D-0572-4BC0-B74A-299B2FD23DF8}" dt="2025-12-14T23:26:20.472" v="668" actId="478"/>
        <pc:sldMkLst>
          <pc:docMk/>
          <pc:sldMk cId="2830626733" sldId="271"/>
        </pc:sldMkLst>
        <pc:picChg chg="add del mod">
          <ac:chgData name="satya gannapureddy" userId="85e5819d3827272c" providerId="LiveId" clId="{F624827D-0572-4BC0-B74A-299B2FD23DF8}" dt="2025-12-14T22:35:53.269" v="642"/>
          <ac:picMkLst>
            <pc:docMk/>
            <pc:sldMk cId="2830626733" sldId="271"/>
            <ac:picMk id="5" creationId="{05B77F5A-A90E-5ED1-202A-F629117682D1}"/>
          </ac:picMkLst>
        </pc:picChg>
        <pc:picChg chg="add mod ord">
          <ac:chgData name="satya gannapureddy" userId="85e5819d3827272c" providerId="LiveId" clId="{F624827D-0572-4BC0-B74A-299B2FD23DF8}" dt="2025-12-04T21:03:48.008" v="561" actId="14100"/>
          <ac:picMkLst>
            <pc:docMk/>
            <pc:sldMk cId="2830626733" sldId="271"/>
            <ac:picMk id="6" creationId="{2C15A3D9-3B09-F3BA-55D0-AF103653EC4E}"/>
          </ac:picMkLst>
        </pc:picChg>
        <pc:picChg chg="add mod">
          <ac:chgData name="satya gannapureddy" userId="85e5819d3827272c" providerId="LiveId" clId="{F624827D-0572-4BC0-B74A-299B2FD23DF8}" dt="2025-12-04T21:03:42.489" v="559" actId="14100"/>
          <ac:picMkLst>
            <pc:docMk/>
            <pc:sldMk cId="2830626733" sldId="271"/>
            <ac:picMk id="9" creationId="{11D58851-5D68-FD58-6165-02302DDFA343}"/>
          </ac:picMkLst>
        </pc:picChg>
        <pc:picChg chg="add del mod ord">
          <ac:chgData name="satya gannapureddy" userId="85e5819d3827272c" providerId="LiveId" clId="{F624827D-0572-4BC0-B74A-299B2FD23DF8}" dt="2025-12-14T22:37:16.952" v="643"/>
          <ac:picMkLst>
            <pc:docMk/>
            <pc:sldMk cId="2830626733" sldId="271"/>
            <ac:picMk id="10" creationId="{17B3E83F-CD73-D06C-1F2C-DC23CBAE4C55}"/>
          </ac:picMkLst>
        </pc:picChg>
        <pc:picChg chg="add del mod">
          <ac:chgData name="satya gannapureddy" userId="85e5819d3827272c" providerId="LiveId" clId="{F624827D-0572-4BC0-B74A-299B2FD23DF8}" dt="2025-12-14T23:26:20.472" v="668" actId="478"/>
          <ac:picMkLst>
            <pc:docMk/>
            <pc:sldMk cId="2830626733" sldId="271"/>
            <ac:picMk id="11" creationId="{7330AED9-F3C2-8A38-BE85-D2FB1C9B41E9}"/>
          </ac:picMkLst>
        </pc:picChg>
      </pc:sldChg>
      <pc:sldChg chg="addSp delSp modSp new mod setBg delAnim delDesignElem">
        <pc:chgData name="satya gannapureddy" userId="85e5819d3827272c" providerId="LiveId" clId="{F624827D-0572-4BC0-B74A-299B2FD23DF8}" dt="2025-12-14T23:26:31.125" v="670" actId="478"/>
        <pc:sldMkLst>
          <pc:docMk/>
          <pc:sldMk cId="134573680" sldId="272"/>
        </pc:sldMkLst>
        <pc:spChg chg="mod">
          <ac:chgData name="satya gannapureddy" userId="85e5819d3827272c" providerId="LiveId" clId="{F624827D-0572-4BC0-B74A-299B2FD23DF8}" dt="2025-12-04T21:17:39.709" v="598" actId="26606"/>
          <ac:spMkLst>
            <pc:docMk/>
            <pc:sldMk cId="134573680" sldId="272"/>
            <ac:spMk id="2" creationId="{F1A0205D-B585-6B42-1C1C-6893792E6659}"/>
          </ac:spMkLst>
        </pc:spChg>
        <pc:spChg chg="add">
          <ac:chgData name="satya gannapureddy" userId="85e5819d3827272c" providerId="LiveId" clId="{F624827D-0572-4BC0-B74A-299B2FD23DF8}" dt="2025-12-04T21:17:39.709" v="598" actId="26606"/>
          <ac:spMkLst>
            <pc:docMk/>
            <pc:sldMk cId="134573680" sldId="272"/>
            <ac:spMk id="8" creationId="{FC999C28-AD33-4EB7-A5F1-C06D10A5FDF7}"/>
          </ac:spMkLst>
        </pc:spChg>
        <pc:spChg chg="add">
          <ac:chgData name="satya gannapureddy" userId="85e5819d3827272c" providerId="LiveId" clId="{F624827D-0572-4BC0-B74A-299B2FD23DF8}" dt="2025-12-04T21:17:39.709" v="598" actId="26606"/>
          <ac:spMkLst>
            <pc:docMk/>
            <pc:sldMk cId="134573680" sldId="272"/>
            <ac:spMk id="9" creationId="{07CBBDD0-4420-4A50-96AB-392F9B97CF03}"/>
          </ac:spMkLst>
        </pc:spChg>
        <pc:spChg chg="add">
          <ac:chgData name="satya gannapureddy" userId="85e5819d3827272c" providerId="LiveId" clId="{F624827D-0572-4BC0-B74A-299B2FD23DF8}" dt="2025-12-04T21:17:39.709" v="598" actId="26606"/>
          <ac:spMkLst>
            <pc:docMk/>
            <pc:sldMk cId="134573680" sldId="272"/>
            <ac:spMk id="10" creationId="{465BA403-54B9-4A0B-BC79-028C495C038E}"/>
          </ac:spMkLst>
        </pc:spChg>
        <pc:spChg chg="add">
          <ac:chgData name="satya gannapureddy" userId="85e5819d3827272c" providerId="LiveId" clId="{F624827D-0572-4BC0-B74A-299B2FD23DF8}" dt="2025-12-04T21:17:39.709" v="598" actId="26606"/>
          <ac:spMkLst>
            <pc:docMk/>
            <pc:sldMk cId="134573680" sldId="272"/>
            <ac:spMk id="11" creationId="{DB8424AB-D56B-4256-866A-5B54DE93C20F}"/>
          </ac:spMkLst>
        </pc:spChg>
        <pc:spChg chg="add">
          <ac:chgData name="satya gannapureddy" userId="85e5819d3827272c" providerId="LiveId" clId="{F624827D-0572-4BC0-B74A-299B2FD23DF8}" dt="2025-12-04T21:17:39.709" v="598" actId="26606"/>
          <ac:spMkLst>
            <pc:docMk/>
            <pc:sldMk cId="134573680" sldId="272"/>
            <ac:spMk id="19" creationId="{DC8C6883-513A-4FE8-8B55-7AA2A13A9BB9}"/>
          </ac:spMkLst>
        </pc:spChg>
        <pc:picChg chg="add mod">
          <ac:chgData name="satya gannapureddy" userId="85e5819d3827272c" providerId="LiveId" clId="{F624827D-0572-4BC0-B74A-299B2FD23DF8}" dt="2025-12-04T21:17:39.709" v="598" actId="26606"/>
          <ac:picMkLst>
            <pc:docMk/>
            <pc:sldMk cId="134573680" sldId="272"/>
            <ac:picMk id="6" creationId="{808246C5-796A-6049-208D-A7BE9AA57192}"/>
          </ac:picMkLst>
        </pc:picChg>
        <pc:picChg chg="add del mod">
          <ac:chgData name="satya gannapureddy" userId="85e5819d3827272c" providerId="LiveId" clId="{F624827D-0572-4BC0-B74A-299B2FD23DF8}" dt="2025-12-14T23:26:31.125" v="670" actId="478"/>
          <ac:picMkLst>
            <pc:docMk/>
            <pc:sldMk cId="134573680" sldId="272"/>
            <ac:picMk id="21" creationId="{61EA7832-1DC1-986D-8CAA-221CD65FC005}"/>
          </ac:picMkLst>
        </pc:picChg>
      </pc:sldChg>
      <pc:sldChg chg="addSp delSp modSp new mod modTransition delAnim modAnim">
        <pc:chgData name="satya gannapureddy" userId="85e5819d3827272c" providerId="LiveId" clId="{F624827D-0572-4BC0-B74A-299B2FD23DF8}" dt="2025-12-14T23:26:27.179" v="669" actId="478"/>
        <pc:sldMkLst>
          <pc:docMk/>
          <pc:sldMk cId="3671400728" sldId="273"/>
        </pc:sldMkLst>
        <pc:spChg chg="mod">
          <ac:chgData name="satya gannapureddy" userId="85e5819d3827272c" providerId="LiveId" clId="{F624827D-0572-4BC0-B74A-299B2FD23DF8}" dt="2025-12-04T21:17:32.166" v="596" actId="27636"/>
          <ac:spMkLst>
            <pc:docMk/>
            <pc:sldMk cId="3671400728" sldId="273"/>
            <ac:spMk id="2" creationId="{292AA871-BFFE-57C6-8E09-6871AF8230AC}"/>
          </ac:spMkLst>
        </pc:spChg>
        <pc:spChg chg="mod">
          <ac:chgData name="satya gannapureddy" userId="85e5819d3827272c" providerId="LiveId" clId="{F624827D-0572-4BC0-B74A-299B2FD23DF8}" dt="2025-12-04T21:04:02.443" v="565" actId="20577"/>
          <ac:spMkLst>
            <pc:docMk/>
            <pc:sldMk cId="3671400728" sldId="273"/>
            <ac:spMk id="3" creationId="{EF891924-5304-2A72-DF75-D0E77D6D675C}"/>
          </ac:spMkLst>
        </pc:spChg>
        <pc:picChg chg="add del mod">
          <ac:chgData name="satya gannapureddy" userId="85e5819d3827272c" providerId="LiveId" clId="{F624827D-0572-4BC0-B74A-299B2FD23DF8}" dt="2025-12-14T22:37:47.570" v="645"/>
          <ac:picMkLst>
            <pc:docMk/>
            <pc:sldMk cId="3671400728" sldId="273"/>
            <ac:picMk id="7" creationId="{8E11BCA5-522F-550D-9DC5-E907061D40B0}"/>
          </ac:picMkLst>
        </pc:picChg>
        <pc:picChg chg="add del mod ord">
          <ac:chgData name="satya gannapureddy" userId="85e5819d3827272c" providerId="LiveId" clId="{F624827D-0572-4BC0-B74A-299B2FD23DF8}" dt="2025-12-14T22:39:01.428" v="646"/>
          <ac:picMkLst>
            <pc:docMk/>
            <pc:sldMk cId="3671400728" sldId="273"/>
            <ac:picMk id="15" creationId="{27A06C2F-96B4-9C93-614D-F504B85D1BD9}"/>
          </ac:picMkLst>
        </pc:picChg>
        <pc:picChg chg="add del mod">
          <ac:chgData name="satya gannapureddy" userId="85e5819d3827272c" providerId="LiveId" clId="{F624827D-0572-4BC0-B74A-299B2FD23DF8}" dt="2025-12-14T22:43:50.794" v="648"/>
          <ac:picMkLst>
            <pc:docMk/>
            <pc:sldMk cId="3671400728" sldId="273"/>
            <ac:picMk id="16" creationId="{08E11E44-7717-BF84-C981-33111CC758F2}"/>
          </ac:picMkLst>
        </pc:picChg>
        <pc:picChg chg="add del mod ord">
          <ac:chgData name="satya gannapureddy" userId="85e5819d3827272c" providerId="LiveId" clId="{F624827D-0572-4BC0-B74A-299B2FD23DF8}" dt="2025-12-14T22:45:41.531" v="649"/>
          <ac:picMkLst>
            <pc:docMk/>
            <pc:sldMk cId="3671400728" sldId="273"/>
            <ac:picMk id="19" creationId="{58384D40-9BD6-A18F-3F69-D89713893A42}"/>
          </ac:picMkLst>
        </pc:picChg>
        <pc:picChg chg="add del mod">
          <ac:chgData name="satya gannapureddy" userId="85e5819d3827272c" providerId="LiveId" clId="{F624827D-0572-4BC0-B74A-299B2FD23DF8}" dt="2025-12-14T23:26:27.179" v="669" actId="478"/>
          <ac:picMkLst>
            <pc:docMk/>
            <pc:sldMk cId="3671400728" sldId="273"/>
            <ac:picMk id="20" creationId="{A1411147-9C24-625E-2D56-229105D5211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18C882-6E29-4C53-BE23-4E881AC78651}" type="datetimeFigureOut">
              <a:rPr lang="en-US" smtClean="0"/>
              <a:t>12/14/2025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DDD95F-2841-4803-B5D7-65EE37313FDC}" type="slidenum">
              <a:rPr lang="en-US" smtClean="0"/>
              <a:t>‹#›</a:t>
            </a:fld>
            <a:endParaRPr lang="en-US"/>
          </a:p>
        </p:txBody>
      </p:sp>
    </p:spTree>
    <p:extLst>
      <p:ext uri="{BB962C8B-B14F-4D97-AF65-F5344CB8AC3E}">
        <p14:creationId xmlns:p14="http://schemas.microsoft.com/office/powerpoint/2010/main" val="32993811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a:t>
            </a:r>
            <a:br>
              <a:rPr lang="en-US" dirty="0"/>
            </a:br>
            <a:r>
              <a:rPr lang="en-US" dirty="0"/>
              <a:t>My name is </a:t>
            </a:r>
            <a:r>
              <a:rPr lang="en-US" b="1" dirty="0"/>
              <a:t>Charan Naga Sri Sai Satya Gannapureddy</a:t>
            </a:r>
            <a:r>
              <a:rPr lang="en-US" dirty="0"/>
              <a:t>, and today I will be presenting my project titled </a:t>
            </a:r>
            <a:r>
              <a:rPr lang="en-US" b="1" dirty="0"/>
              <a:t>Fake Job Posting Prediction</a:t>
            </a:r>
            <a:r>
              <a:rPr lang="en-US" dirty="0"/>
              <a:t>.</a:t>
            </a:r>
          </a:p>
          <a:p>
            <a:r>
              <a:rPr lang="en-US" dirty="0"/>
              <a:t>With the increasing use of online job portals, job searching has become easier than ever. However, this convenience has also opened doors for scammers who post fake job listings to exploit job seekers.</a:t>
            </a:r>
          </a:p>
          <a:p>
            <a:r>
              <a:rPr lang="en-US" dirty="0"/>
              <a:t>In this project, I focus on using </a:t>
            </a:r>
            <a:r>
              <a:rPr lang="en-US" b="1" dirty="0"/>
              <a:t>data science, machine learning, and natural language processing</a:t>
            </a:r>
            <a:r>
              <a:rPr lang="en-US" dirty="0"/>
              <a:t> techniques to identify fraudulent job postings and help improve trust and safety on online hiring platforms.”</a:t>
            </a:r>
          </a:p>
          <a:p>
            <a:endParaRPr lang="en-US" dirty="0"/>
          </a:p>
        </p:txBody>
      </p:sp>
      <p:sp>
        <p:nvSpPr>
          <p:cNvPr id="4" name="Slide Number Placeholder 3"/>
          <p:cNvSpPr>
            <a:spLocks noGrp="1"/>
          </p:cNvSpPr>
          <p:nvPr>
            <p:ph type="sldNum" sz="quarter" idx="5"/>
          </p:nvPr>
        </p:nvSpPr>
        <p:spPr/>
        <p:txBody>
          <a:bodyPr/>
          <a:lstStyle/>
          <a:p>
            <a:fld id="{D0DDD95F-2841-4803-B5D7-65EE37313FDC}" type="slidenum">
              <a:rPr lang="en-US" smtClean="0"/>
              <a:t>1</a:t>
            </a:fld>
            <a:endParaRPr lang="en-US"/>
          </a:p>
        </p:txBody>
      </p:sp>
    </p:spTree>
    <p:extLst>
      <p:ext uri="{BB962C8B-B14F-4D97-AF65-F5344CB8AC3E}">
        <p14:creationId xmlns:p14="http://schemas.microsoft.com/office/powerpoint/2010/main" val="36017490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“Online job portals are increasingly targeted by scammers who post fake job listings.</a:t>
            </a:r>
            <a:br>
              <a:rPr lang="en-US" dirty="0"/>
            </a:br>
            <a:r>
              <a:rPr lang="en-US" dirty="0"/>
              <a:t>These fraudulent postings often aim to steal personal information, money, or both.</a:t>
            </a:r>
          </a:p>
          <a:p>
            <a:r>
              <a:rPr lang="en-US" dirty="0"/>
              <a:t>This problem affects job seekers emotionally and financially, and also damages the credibility of hiring platforms.</a:t>
            </a:r>
            <a:br>
              <a:rPr lang="en-US" dirty="0"/>
            </a:br>
            <a:r>
              <a:rPr lang="en-US" dirty="0"/>
              <a:t>Fake job postings are often designed to look legitimate, which makes manual detection very difficult.</a:t>
            </a:r>
          </a:p>
          <a:p>
            <a:r>
              <a:rPr lang="en-US" dirty="0"/>
              <a:t>The main goal of this project is to build a </a:t>
            </a:r>
            <a:r>
              <a:rPr lang="en-US" b="1" dirty="0"/>
              <a:t>machine learning model</a:t>
            </a:r>
            <a:r>
              <a:rPr lang="en-US" dirty="0"/>
              <a:t> that can automatically detect fake job postings using both </a:t>
            </a:r>
            <a:r>
              <a:rPr lang="en-US" b="1" dirty="0"/>
              <a:t>textual content and metadata</a:t>
            </a:r>
            <a:r>
              <a:rPr lang="en-US" dirty="0"/>
              <a:t>.</a:t>
            </a:r>
            <a:br>
              <a:rPr lang="en-US" dirty="0"/>
            </a:br>
            <a:r>
              <a:rPr lang="en-US" dirty="0"/>
              <a:t>Another important objective is to understand which features most strongly differentiate real job postings from fraudulent ones.”</a:t>
            </a:r>
          </a:p>
          <a:p>
            <a:endParaRPr lang="en-US" dirty="0"/>
          </a:p>
        </p:txBody>
      </p:sp>
      <p:sp>
        <p:nvSpPr>
          <p:cNvPr id="4" name="Slide Number Placeholder 3"/>
          <p:cNvSpPr>
            <a:spLocks noGrp="1"/>
          </p:cNvSpPr>
          <p:nvPr>
            <p:ph type="sldNum" sz="quarter" idx="5"/>
          </p:nvPr>
        </p:nvSpPr>
        <p:spPr/>
        <p:txBody>
          <a:bodyPr/>
          <a:lstStyle/>
          <a:p>
            <a:fld id="{D0DDD95F-2841-4803-B5D7-65EE37313FDC}" type="slidenum">
              <a:rPr lang="en-US" smtClean="0"/>
              <a:t>2</a:t>
            </a:fld>
            <a:endParaRPr lang="en-US"/>
          </a:p>
        </p:txBody>
      </p:sp>
    </p:spTree>
    <p:extLst>
      <p:ext uri="{BB962C8B-B14F-4D97-AF65-F5344CB8AC3E}">
        <p14:creationId xmlns:p14="http://schemas.microsoft.com/office/powerpoint/2010/main" val="14517639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complete workflow of the project.</a:t>
            </a:r>
          </a:p>
          <a:p>
            <a:r>
              <a:rPr lang="en-US" dirty="0"/>
              <a:t>First, I collected the dataset from Kaggle.</a:t>
            </a:r>
            <a:br>
              <a:rPr lang="en-US" dirty="0"/>
            </a:br>
            <a:r>
              <a:rPr lang="en-US" dirty="0"/>
              <a:t>Then, I performed data preprocessing, which included handling missing values and cleaning categorical and binary features.</a:t>
            </a:r>
          </a:p>
          <a:p>
            <a:r>
              <a:rPr lang="en-US" dirty="0"/>
              <a:t>For textual fields such as job title, company profile, job description, and requirements, I applied NLP techniques like lowercasing, stop-word removal, tokenization, and lemmatization.</a:t>
            </a:r>
            <a:br>
              <a:rPr lang="en-US" dirty="0"/>
            </a:br>
            <a:r>
              <a:rPr lang="en-US" dirty="0"/>
              <a:t>After that, I used </a:t>
            </a:r>
            <a:r>
              <a:rPr lang="en-US" b="1" dirty="0"/>
              <a:t>TF-IDF vectorization</a:t>
            </a:r>
            <a:r>
              <a:rPr lang="en-US" dirty="0"/>
              <a:t> to convert text into numerical features.</a:t>
            </a:r>
          </a:p>
          <a:p>
            <a:r>
              <a:rPr lang="en-US" dirty="0"/>
              <a:t>Next, I conducted </a:t>
            </a:r>
            <a:r>
              <a:rPr lang="en-US" b="1" dirty="0"/>
              <a:t>Exploratory Data Analysis</a:t>
            </a:r>
            <a:r>
              <a:rPr lang="en-US" dirty="0"/>
              <a:t>, or EDA, to identify important patterns.</a:t>
            </a:r>
            <a:br>
              <a:rPr lang="en-US" dirty="0"/>
            </a:br>
            <a:r>
              <a:rPr lang="en-US" dirty="0"/>
              <a:t>The dataset was then split into training and testing sets, multiple models were trained, and performance was evaluated using metrics such as accuracy, precision, recall, F1-score, and AUC.”</a:t>
            </a:r>
          </a:p>
          <a:p>
            <a:endParaRPr lang="en-US" dirty="0"/>
          </a:p>
        </p:txBody>
      </p:sp>
      <p:sp>
        <p:nvSpPr>
          <p:cNvPr id="4" name="Slide Number Placeholder 3"/>
          <p:cNvSpPr>
            <a:spLocks noGrp="1"/>
          </p:cNvSpPr>
          <p:nvPr>
            <p:ph type="sldNum" sz="quarter" idx="5"/>
          </p:nvPr>
        </p:nvSpPr>
        <p:spPr/>
        <p:txBody>
          <a:bodyPr/>
          <a:lstStyle/>
          <a:p>
            <a:fld id="{D0DDD95F-2841-4803-B5D7-65EE37313FDC}" type="slidenum">
              <a:rPr lang="en-US" smtClean="0"/>
              <a:t>3</a:t>
            </a:fld>
            <a:endParaRPr lang="en-US"/>
          </a:p>
        </p:txBody>
      </p:sp>
    </p:spTree>
    <p:extLst>
      <p:ext uri="{BB962C8B-B14F-4D97-AF65-F5344CB8AC3E}">
        <p14:creationId xmlns:p14="http://schemas.microsoft.com/office/powerpoint/2010/main" val="39280975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used in this project comes from Kaggle’s </a:t>
            </a:r>
            <a:r>
              <a:rPr lang="en-US" i="1" dirty="0"/>
              <a:t>Real or Fake Job Posting</a:t>
            </a:r>
            <a:r>
              <a:rPr lang="en-US" dirty="0"/>
              <a:t> dataset.</a:t>
            </a:r>
          </a:p>
          <a:p>
            <a:r>
              <a:rPr lang="en-US" dirty="0"/>
              <a:t>It contains approximately </a:t>
            </a:r>
            <a:r>
              <a:rPr lang="en-US" b="1" dirty="0"/>
              <a:t>17,880 job postings</a:t>
            </a:r>
            <a:r>
              <a:rPr lang="en-US" dirty="0"/>
              <a:t> and </a:t>
            </a:r>
            <a:r>
              <a:rPr lang="en-US" b="1" dirty="0"/>
              <a:t>18 columns</a:t>
            </a:r>
            <a:r>
              <a:rPr lang="en-US" dirty="0"/>
              <a:t>.</a:t>
            </a:r>
            <a:br>
              <a:rPr lang="en-US" dirty="0"/>
            </a:br>
            <a:r>
              <a:rPr lang="en-US" dirty="0"/>
              <a:t>Each row represents a single job posting.</a:t>
            </a:r>
          </a:p>
          <a:p>
            <a:r>
              <a:rPr lang="en-US" dirty="0"/>
              <a:t>The dataset includes both textual features, such as job descriptions, and metadata features like employment type, salary range, telecommuting status, and company logo information.</a:t>
            </a:r>
            <a:br>
              <a:rPr lang="en-US" dirty="0"/>
            </a:br>
            <a:r>
              <a:rPr lang="en-US" dirty="0"/>
              <a:t>This makes it suitable for both NLP-based and traditional machine learning models.”</a:t>
            </a:r>
          </a:p>
          <a:p>
            <a:endParaRPr lang="en-US" dirty="0"/>
          </a:p>
        </p:txBody>
      </p:sp>
      <p:sp>
        <p:nvSpPr>
          <p:cNvPr id="4" name="Slide Number Placeholder 3"/>
          <p:cNvSpPr>
            <a:spLocks noGrp="1"/>
          </p:cNvSpPr>
          <p:nvPr>
            <p:ph type="sldNum" sz="quarter" idx="5"/>
          </p:nvPr>
        </p:nvSpPr>
        <p:spPr/>
        <p:txBody>
          <a:bodyPr/>
          <a:lstStyle/>
          <a:p>
            <a:fld id="{D0DDD95F-2841-4803-B5D7-65EE37313FDC}" type="slidenum">
              <a:rPr lang="en-US" smtClean="0"/>
              <a:t>4</a:t>
            </a:fld>
            <a:endParaRPr lang="en-US"/>
          </a:p>
        </p:txBody>
      </p:sp>
    </p:spTree>
    <p:extLst>
      <p:ext uri="{BB962C8B-B14F-4D97-AF65-F5344CB8AC3E}">
        <p14:creationId xmlns:p14="http://schemas.microsoft.com/office/powerpoint/2010/main" val="416014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pie chart shows the overall distribution of job postings in the dataset.</a:t>
            </a:r>
          </a:p>
          <a:p>
            <a:r>
              <a:rPr lang="en-US" dirty="0"/>
              <a:t>We can clearly see that the dataset is highly imbalanced.</a:t>
            </a:r>
            <a:br>
              <a:rPr lang="en-US" dirty="0"/>
            </a:br>
            <a:r>
              <a:rPr lang="en-US" dirty="0"/>
              <a:t>About </a:t>
            </a:r>
            <a:r>
              <a:rPr lang="en-US" b="1" dirty="0"/>
              <a:t>95.2% of the postings are not fraudulent</a:t>
            </a:r>
            <a:r>
              <a:rPr lang="en-US" dirty="0"/>
              <a:t>, while only a small percentage are fraudulent.</a:t>
            </a:r>
          </a:p>
          <a:p>
            <a:r>
              <a:rPr lang="en-US" dirty="0"/>
              <a:t>This is very common in fraud detection problems.</a:t>
            </a:r>
            <a:br>
              <a:rPr lang="en-US" dirty="0"/>
            </a:br>
            <a:r>
              <a:rPr lang="en-US" dirty="0"/>
              <a:t>If we train models directly on this data, they may simply predict every job as real and still achieve high accuracy.</a:t>
            </a:r>
          </a:p>
          <a:p>
            <a:r>
              <a:rPr lang="en-US" dirty="0"/>
              <a:t>Because of this imbalance, handling class distribution became a critical step in my modeling process and later motivated the use of SMOTE.”</a:t>
            </a:r>
          </a:p>
          <a:p>
            <a:endParaRPr lang="en-US" dirty="0"/>
          </a:p>
        </p:txBody>
      </p:sp>
      <p:sp>
        <p:nvSpPr>
          <p:cNvPr id="4" name="Slide Number Placeholder 3"/>
          <p:cNvSpPr>
            <a:spLocks noGrp="1"/>
          </p:cNvSpPr>
          <p:nvPr>
            <p:ph type="sldNum" sz="quarter" idx="5"/>
          </p:nvPr>
        </p:nvSpPr>
        <p:spPr/>
        <p:txBody>
          <a:bodyPr/>
          <a:lstStyle/>
          <a:p>
            <a:fld id="{D0DDD95F-2841-4803-B5D7-65EE37313FDC}" type="slidenum">
              <a:rPr lang="en-US" smtClean="0"/>
              <a:t>5</a:t>
            </a:fld>
            <a:endParaRPr lang="en-US"/>
          </a:p>
        </p:txBody>
      </p:sp>
    </p:spTree>
    <p:extLst>
      <p:ext uri="{BB962C8B-B14F-4D97-AF65-F5344CB8AC3E}">
        <p14:creationId xmlns:p14="http://schemas.microsoft.com/office/powerpoint/2010/main" val="30053907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distribution of employment type, required experience, and required education.</a:t>
            </a:r>
          </a:p>
          <a:p>
            <a:r>
              <a:rPr lang="en-US" dirty="0"/>
              <a:t>Most postings are </a:t>
            </a:r>
            <a:r>
              <a:rPr lang="en-US" b="1" dirty="0"/>
              <a:t>full-time</a:t>
            </a:r>
            <a:r>
              <a:rPr lang="en-US" dirty="0"/>
              <a:t>, while contract, part-time, and temporary roles are much fewer.</a:t>
            </a:r>
            <a:br>
              <a:rPr lang="en-US" dirty="0"/>
            </a:br>
            <a:r>
              <a:rPr lang="en-US" dirty="0"/>
              <a:t>A large number of postings also fall under ‘unknown’, which can be suspicious.</a:t>
            </a:r>
          </a:p>
          <a:p>
            <a:r>
              <a:rPr lang="en-US" dirty="0"/>
              <a:t>For experience and education, many postings do not clearly specify requirements.</a:t>
            </a:r>
            <a:br>
              <a:rPr lang="en-US" dirty="0"/>
            </a:br>
            <a:r>
              <a:rPr lang="en-US" dirty="0"/>
              <a:t>Fraudulent postings often avoid being specific to attract a wider audience.</a:t>
            </a:r>
          </a:p>
          <a:p>
            <a:r>
              <a:rPr lang="en-US" dirty="0"/>
              <a:t>These patterns suggest that metadata features like experience and education play an important role in identifying fake job postings.”</a:t>
            </a:r>
          </a:p>
          <a:p>
            <a:r>
              <a:rPr lang="en-US" dirty="0"/>
              <a:t>“This bar chart shows job postings grouped by job function.</a:t>
            </a:r>
          </a:p>
          <a:p>
            <a:r>
              <a:rPr lang="en-US" dirty="0"/>
              <a:t>A large number of postings fall under ‘Unknown’, followed by Information Technology, Sales, Engineering, and Customer Service.</a:t>
            </a:r>
          </a:p>
          <a:p>
            <a:r>
              <a:rPr lang="en-US" dirty="0"/>
              <a:t>Fraudulent postings often target broad or entry-level roles such as customer service, where fewer technical details are required.</a:t>
            </a:r>
          </a:p>
          <a:p>
            <a:r>
              <a:rPr lang="en-US" dirty="0"/>
              <a:t>This insight shows that job function alone is not enough to detect fraud, but when combined with text features, it becomes very useful.”</a:t>
            </a:r>
          </a:p>
          <a:p>
            <a:endParaRPr lang="en-US" dirty="0"/>
          </a:p>
          <a:p>
            <a:endParaRPr lang="en-US" dirty="0"/>
          </a:p>
        </p:txBody>
      </p:sp>
      <p:sp>
        <p:nvSpPr>
          <p:cNvPr id="4" name="Slide Number Placeholder 3"/>
          <p:cNvSpPr>
            <a:spLocks noGrp="1"/>
          </p:cNvSpPr>
          <p:nvPr>
            <p:ph type="sldNum" sz="quarter" idx="5"/>
          </p:nvPr>
        </p:nvSpPr>
        <p:spPr/>
        <p:txBody>
          <a:bodyPr/>
          <a:lstStyle/>
          <a:p>
            <a:fld id="{D0DDD95F-2841-4803-B5D7-65EE37313FDC}" type="slidenum">
              <a:rPr lang="en-US" smtClean="0"/>
              <a:t>6</a:t>
            </a:fld>
            <a:endParaRPr lang="en-US"/>
          </a:p>
        </p:txBody>
      </p:sp>
    </p:spTree>
    <p:extLst>
      <p:ext uri="{BB962C8B-B14F-4D97-AF65-F5344CB8AC3E}">
        <p14:creationId xmlns:p14="http://schemas.microsoft.com/office/powerpoint/2010/main" val="30073775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heatmap shows correlations between numerical features and the fraud label.</a:t>
            </a:r>
          </a:p>
          <a:p>
            <a:r>
              <a:rPr lang="en-US" dirty="0"/>
              <a:t>We can observe that postings with a </a:t>
            </a:r>
            <a:r>
              <a:rPr lang="en-US" b="1" dirty="0"/>
              <a:t>company logo</a:t>
            </a:r>
            <a:r>
              <a:rPr lang="en-US" dirty="0"/>
              <a:t> are less likely to be fraudulent.</a:t>
            </a:r>
            <a:br>
              <a:rPr lang="en-US" dirty="0"/>
            </a:br>
            <a:r>
              <a:rPr lang="en-US" dirty="0"/>
              <a:t>Similarly, postings with screening questions tend to be more legitimate.</a:t>
            </a:r>
          </a:p>
          <a:p>
            <a:r>
              <a:rPr lang="en-US" dirty="0"/>
              <a:t>However, correlations are not extremely strong, which indicates that fraud detection depends on a </a:t>
            </a:r>
            <a:r>
              <a:rPr lang="en-US" b="1" dirty="0"/>
              <a:t>combination of features</a:t>
            </a:r>
            <a:r>
              <a:rPr lang="en-US" dirty="0"/>
              <a:t>, not just one.</a:t>
            </a:r>
          </a:p>
          <a:p>
            <a:r>
              <a:rPr lang="en-US" dirty="0"/>
              <a:t>This supports the use of ensemble models like Random Forest and </a:t>
            </a:r>
            <a:r>
              <a:rPr lang="en-US" dirty="0" err="1"/>
              <a:t>XGBoost</a:t>
            </a:r>
            <a:r>
              <a:rPr lang="en-US" dirty="0"/>
              <a:t>, which can capture complex feature interactions.”</a:t>
            </a:r>
          </a:p>
          <a:p>
            <a:endParaRPr lang="en-US" dirty="0"/>
          </a:p>
        </p:txBody>
      </p:sp>
      <p:sp>
        <p:nvSpPr>
          <p:cNvPr id="4" name="Slide Number Placeholder 3"/>
          <p:cNvSpPr>
            <a:spLocks noGrp="1"/>
          </p:cNvSpPr>
          <p:nvPr>
            <p:ph type="sldNum" sz="quarter" idx="5"/>
          </p:nvPr>
        </p:nvSpPr>
        <p:spPr/>
        <p:txBody>
          <a:bodyPr/>
          <a:lstStyle/>
          <a:p>
            <a:fld id="{D0DDD95F-2841-4803-B5D7-65EE37313FDC}" type="slidenum">
              <a:rPr lang="en-US" smtClean="0"/>
              <a:t>7</a:t>
            </a:fld>
            <a:endParaRPr lang="en-US"/>
          </a:p>
        </p:txBody>
      </p:sp>
    </p:spTree>
    <p:extLst>
      <p:ext uri="{BB962C8B-B14F-4D97-AF65-F5344CB8AC3E}">
        <p14:creationId xmlns:p14="http://schemas.microsoft.com/office/powerpoint/2010/main" val="13646879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distribution of job postings by country.</a:t>
            </a:r>
          </a:p>
          <a:p>
            <a:r>
              <a:rPr lang="en-US" dirty="0"/>
              <a:t>Most postings come from the </a:t>
            </a:r>
            <a:r>
              <a:rPr lang="en-US" b="1" dirty="0"/>
              <a:t>United States</a:t>
            </a:r>
            <a:r>
              <a:rPr lang="en-US" dirty="0"/>
              <a:t>, followed by the United Kingdom and a few other countries.</a:t>
            </a:r>
          </a:p>
          <a:p>
            <a:r>
              <a:rPr lang="en-US" dirty="0"/>
              <a:t>While geographic information can be helpful, it must be used carefully to avoid bias.</a:t>
            </a:r>
            <a:br>
              <a:rPr lang="en-US" dirty="0"/>
            </a:br>
            <a:r>
              <a:rPr lang="en-US" dirty="0"/>
              <a:t>Instead of using country as a direct decision factor, it was encoded and used as part of the overall feature set.”</a:t>
            </a:r>
          </a:p>
          <a:p>
            <a:endParaRPr lang="en-US" dirty="0"/>
          </a:p>
        </p:txBody>
      </p:sp>
      <p:sp>
        <p:nvSpPr>
          <p:cNvPr id="4" name="Slide Number Placeholder 3"/>
          <p:cNvSpPr>
            <a:spLocks noGrp="1"/>
          </p:cNvSpPr>
          <p:nvPr>
            <p:ph type="sldNum" sz="quarter" idx="5"/>
          </p:nvPr>
        </p:nvSpPr>
        <p:spPr/>
        <p:txBody>
          <a:bodyPr/>
          <a:lstStyle/>
          <a:p>
            <a:fld id="{D0DDD95F-2841-4803-B5D7-65EE37313FDC}" type="slidenum">
              <a:rPr lang="en-US" smtClean="0"/>
              <a:t>8</a:t>
            </a:fld>
            <a:endParaRPr lang="en-US"/>
          </a:p>
        </p:txBody>
      </p:sp>
    </p:spTree>
    <p:extLst>
      <p:ext uri="{BB962C8B-B14F-4D97-AF65-F5344CB8AC3E}">
        <p14:creationId xmlns:p14="http://schemas.microsoft.com/office/powerpoint/2010/main" val="1859586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word cloud visualizes the most frequent words in job postings.</a:t>
            </a:r>
          </a:p>
          <a:p>
            <a:r>
              <a:rPr lang="en-US" dirty="0"/>
              <a:t>Common words include ‘full-time’, ‘customer service’, ‘communication skills’, and ‘experience’.</a:t>
            </a:r>
            <a:br>
              <a:rPr lang="en-US" dirty="0"/>
            </a:br>
            <a:r>
              <a:rPr lang="en-US" dirty="0"/>
              <a:t>Fraudulent postings often use vague and repetitive language, avoiding role-specific details.</a:t>
            </a:r>
          </a:p>
          <a:p>
            <a:r>
              <a:rPr lang="en-US" dirty="0"/>
              <a:t>Real job postings usually contain more structured and technical terminology.</a:t>
            </a:r>
            <a:br>
              <a:rPr lang="en-US" dirty="0"/>
            </a:br>
            <a:r>
              <a:rPr lang="en-US" dirty="0"/>
              <a:t>This highlights why NLP plays a critical role in detecting fake job postings.”</a:t>
            </a:r>
          </a:p>
          <a:p>
            <a:endParaRPr lang="en-US" dirty="0"/>
          </a:p>
        </p:txBody>
      </p:sp>
      <p:sp>
        <p:nvSpPr>
          <p:cNvPr id="4" name="Slide Number Placeholder 3"/>
          <p:cNvSpPr>
            <a:spLocks noGrp="1"/>
          </p:cNvSpPr>
          <p:nvPr>
            <p:ph type="sldNum" sz="quarter" idx="5"/>
          </p:nvPr>
        </p:nvSpPr>
        <p:spPr/>
        <p:txBody>
          <a:bodyPr/>
          <a:lstStyle/>
          <a:p>
            <a:fld id="{D0DDD95F-2841-4803-B5D7-65EE37313FDC}" type="slidenum">
              <a:rPr lang="en-US" smtClean="0"/>
              <a:t>9</a:t>
            </a:fld>
            <a:endParaRPr lang="en-US"/>
          </a:p>
        </p:txBody>
      </p:sp>
    </p:spTree>
    <p:extLst>
      <p:ext uri="{BB962C8B-B14F-4D97-AF65-F5344CB8AC3E}">
        <p14:creationId xmlns:p14="http://schemas.microsoft.com/office/powerpoint/2010/main" val="13722147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“Categorical features such as department, salary range, employment type, and country were converted into numerical values using One-Hot Encoding.</a:t>
            </a:r>
          </a:p>
          <a:p>
            <a:r>
              <a:rPr lang="en-US" dirty="0"/>
              <a:t>These encoded features were combined with scaled numerical features like telecommuting status and company logo presence.</a:t>
            </a:r>
          </a:p>
          <a:p>
            <a:r>
              <a:rPr lang="en-US" dirty="0"/>
              <a:t>The same preprocessing steps were applied to both training and testing datasets to ensure consistency.”</a:t>
            </a:r>
          </a:p>
          <a:p>
            <a:endParaRPr lang="en-US" dirty="0"/>
          </a:p>
        </p:txBody>
      </p:sp>
      <p:sp>
        <p:nvSpPr>
          <p:cNvPr id="4" name="Slide Number Placeholder 3"/>
          <p:cNvSpPr>
            <a:spLocks noGrp="1"/>
          </p:cNvSpPr>
          <p:nvPr>
            <p:ph type="sldNum" sz="quarter" idx="5"/>
          </p:nvPr>
        </p:nvSpPr>
        <p:spPr/>
        <p:txBody>
          <a:bodyPr/>
          <a:lstStyle/>
          <a:p>
            <a:fld id="{D0DDD95F-2841-4803-B5D7-65EE37313FDC}" type="slidenum">
              <a:rPr lang="en-US" smtClean="0"/>
              <a:t>10</a:t>
            </a:fld>
            <a:endParaRPr lang="en-US"/>
          </a:p>
        </p:txBody>
      </p:sp>
    </p:spTree>
    <p:extLst>
      <p:ext uri="{BB962C8B-B14F-4D97-AF65-F5344CB8AC3E}">
        <p14:creationId xmlns:p14="http://schemas.microsoft.com/office/powerpoint/2010/main" val="29615376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address class imbalance, I applied </a:t>
            </a:r>
            <a:r>
              <a:rPr lang="en-US" b="1" dirty="0"/>
              <a:t>SMOTE</a:t>
            </a:r>
            <a:r>
              <a:rPr lang="en-US" dirty="0"/>
              <a:t>, which generates synthetic examples of the minority class.</a:t>
            </a:r>
          </a:p>
          <a:p>
            <a:r>
              <a:rPr lang="en-US" dirty="0"/>
              <a:t>SMOTE was applied only to the training data to prevent data leakage.</a:t>
            </a:r>
            <a:br>
              <a:rPr lang="en-US" dirty="0"/>
            </a:br>
            <a:r>
              <a:rPr lang="en-US" dirty="0"/>
              <a:t>This helped the models learn patterns from both real and fake postings more effectively.”</a:t>
            </a:r>
          </a:p>
          <a:p>
            <a:endParaRPr lang="en-US" dirty="0"/>
          </a:p>
        </p:txBody>
      </p:sp>
      <p:sp>
        <p:nvSpPr>
          <p:cNvPr id="4" name="Slide Number Placeholder 3"/>
          <p:cNvSpPr>
            <a:spLocks noGrp="1"/>
          </p:cNvSpPr>
          <p:nvPr>
            <p:ph type="sldNum" sz="quarter" idx="5"/>
          </p:nvPr>
        </p:nvSpPr>
        <p:spPr/>
        <p:txBody>
          <a:bodyPr/>
          <a:lstStyle/>
          <a:p>
            <a:fld id="{D0DDD95F-2841-4803-B5D7-65EE37313FDC}" type="slidenum">
              <a:rPr lang="en-US" smtClean="0"/>
              <a:t>11</a:t>
            </a:fld>
            <a:endParaRPr lang="en-US"/>
          </a:p>
        </p:txBody>
      </p:sp>
    </p:spTree>
    <p:extLst>
      <p:ext uri="{BB962C8B-B14F-4D97-AF65-F5344CB8AC3E}">
        <p14:creationId xmlns:p14="http://schemas.microsoft.com/office/powerpoint/2010/main" val="29040337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trained multiple machine learning models including Naive Bayes, KNN, Logistic Regression, Random Forest, and </a:t>
            </a:r>
            <a:r>
              <a:rPr lang="en-US" dirty="0" err="1"/>
              <a:t>XGBoost</a:t>
            </a:r>
            <a:r>
              <a:rPr lang="en-US" dirty="0"/>
              <a:t>.</a:t>
            </a:r>
          </a:p>
          <a:p>
            <a:r>
              <a:rPr lang="en-US" dirty="0"/>
              <a:t>Each model was evaluated using accuracy, precision, recall, and F1-score to determine the most reliable approach.”</a:t>
            </a:r>
          </a:p>
          <a:p>
            <a:endParaRPr lang="en-US" dirty="0"/>
          </a:p>
        </p:txBody>
      </p:sp>
      <p:sp>
        <p:nvSpPr>
          <p:cNvPr id="4" name="Slide Number Placeholder 3"/>
          <p:cNvSpPr>
            <a:spLocks noGrp="1"/>
          </p:cNvSpPr>
          <p:nvPr>
            <p:ph type="sldNum" sz="quarter" idx="5"/>
          </p:nvPr>
        </p:nvSpPr>
        <p:spPr/>
        <p:txBody>
          <a:bodyPr/>
          <a:lstStyle/>
          <a:p>
            <a:fld id="{D0DDD95F-2841-4803-B5D7-65EE37313FDC}" type="slidenum">
              <a:rPr lang="en-US" smtClean="0"/>
              <a:t>12</a:t>
            </a:fld>
            <a:endParaRPr lang="en-US"/>
          </a:p>
        </p:txBody>
      </p:sp>
    </p:spTree>
    <p:extLst>
      <p:ext uri="{BB962C8B-B14F-4D97-AF65-F5344CB8AC3E}">
        <p14:creationId xmlns:p14="http://schemas.microsoft.com/office/powerpoint/2010/main" val="10324174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 compares model accuracies.</a:t>
            </a:r>
          </a:p>
          <a:p>
            <a:r>
              <a:rPr lang="en-US" dirty="0"/>
              <a:t>Naive Bayes performs poorly with around </a:t>
            </a:r>
            <a:r>
              <a:rPr lang="en-US" b="1" dirty="0"/>
              <a:t>39% accuracy</a:t>
            </a:r>
            <a:r>
              <a:rPr lang="en-US" dirty="0"/>
              <a:t>.</a:t>
            </a:r>
            <a:br>
              <a:rPr lang="en-US" dirty="0"/>
            </a:br>
            <a:r>
              <a:rPr lang="en-US" dirty="0"/>
              <a:t>KNN, Logistic Regression, Random Forest, and </a:t>
            </a:r>
            <a:r>
              <a:rPr lang="en-US" dirty="0" err="1"/>
              <a:t>XGBoost</a:t>
            </a:r>
            <a:r>
              <a:rPr lang="en-US" dirty="0"/>
              <a:t> perform significantly better between </a:t>
            </a:r>
            <a:r>
              <a:rPr lang="en-US" b="1" dirty="0"/>
              <a:t>85% and 89%</a:t>
            </a:r>
            <a:r>
              <a:rPr lang="en-US" dirty="0"/>
              <a:t>.</a:t>
            </a:r>
          </a:p>
          <a:p>
            <a:r>
              <a:rPr lang="en-US" dirty="0"/>
              <a:t>Random Forest achieves the highest accuracy among classical models.”</a:t>
            </a:r>
          </a:p>
          <a:p>
            <a:endParaRPr lang="en-US" dirty="0"/>
          </a:p>
        </p:txBody>
      </p:sp>
      <p:sp>
        <p:nvSpPr>
          <p:cNvPr id="4" name="Slide Number Placeholder 3"/>
          <p:cNvSpPr>
            <a:spLocks noGrp="1"/>
          </p:cNvSpPr>
          <p:nvPr>
            <p:ph type="sldNum" sz="quarter" idx="5"/>
          </p:nvPr>
        </p:nvSpPr>
        <p:spPr/>
        <p:txBody>
          <a:bodyPr/>
          <a:lstStyle/>
          <a:p>
            <a:fld id="{D0DDD95F-2841-4803-B5D7-65EE37313FDC}" type="slidenum">
              <a:rPr lang="en-US" smtClean="0"/>
              <a:t>13</a:t>
            </a:fld>
            <a:endParaRPr lang="en-US"/>
          </a:p>
        </p:txBody>
      </p:sp>
    </p:spTree>
    <p:extLst>
      <p:ext uri="{BB962C8B-B14F-4D97-AF65-F5344CB8AC3E}">
        <p14:creationId xmlns:p14="http://schemas.microsoft.com/office/powerpoint/2010/main" val="4032219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confusion matrix components.</a:t>
            </a:r>
          </a:p>
          <a:p>
            <a:r>
              <a:rPr lang="en-US" dirty="0"/>
              <a:t>Naive Bayes has a very high number of false positives.</a:t>
            </a:r>
            <a:br>
              <a:rPr lang="en-US" dirty="0"/>
            </a:br>
            <a:r>
              <a:rPr lang="en-US" dirty="0"/>
              <a:t>Random Forest and </a:t>
            </a:r>
            <a:r>
              <a:rPr lang="en-US" dirty="0" err="1"/>
              <a:t>XGBoost</a:t>
            </a:r>
            <a:r>
              <a:rPr lang="en-US" dirty="0"/>
              <a:t> show high true negatives and low false negatives.</a:t>
            </a:r>
          </a:p>
          <a:p>
            <a:r>
              <a:rPr lang="en-US" dirty="0"/>
              <a:t>This confirms that tree-based models provide more reliable predictions.”</a:t>
            </a:r>
          </a:p>
          <a:p>
            <a:endParaRPr lang="en-US" dirty="0"/>
          </a:p>
        </p:txBody>
      </p:sp>
      <p:sp>
        <p:nvSpPr>
          <p:cNvPr id="4" name="Slide Number Placeholder 3"/>
          <p:cNvSpPr>
            <a:spLocks noGrp="1"/>
          </p:cNvSpPr>
          <p:nvPr>
            <p:ph type="sldNum" sz="quarter" idx="5"/>
          </p:nvPr>
        </p:nvSpPr>
        <p:spPr/>
        <p:txBody>
          <a:bodyPr/>
          <a:lstStyle/>
          <a:p>
            <a:fld id="{D0DDD95F-2841-4803-B5D7-65EE37313FDC}" type="slidenum">
              <a:rPr lang="en-US" smtClean="0"/>
              <a:t>14</a:t>
            </a:fld>
            <a:endParaRPr lang="en-US"/>
          </a:p>
        </p:txBody>
      </p:sp>
    </p:spTree>
    <p:extLst>
      <p:ext uri="{BB962C8B-B14F-4D97-AF65-F5344CB8AC3E}">
        <p14:creationId xmlns:p14="http://schemas.microsoft.com/office/powerpoint/2010/main" val="33168399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addition to TF-IDF, I used </a:t>
            </a:r>
            <a:r>
              <a:rPr lang="en-US" b="1" dirty="0"/>
              <a:t>Sentence Transformer embeddings</a:t>
            </a:r>
            <a:r>
              <a:rPr lang="en-US" dirty="0"/>
              <a:t> from the all-MiniLM-L6-v2 model.</a:t>
            </a:r>
          </a:p>
          <a:p>
            <a:r>
              <a:rPr lang="en-US" dirty="0"/>
              <a:t>These embeddings capture semantic meaning and were used to train Logistic Regression, Random Forest, and </a:t>
            </a:r>
            <a:r>
              <a:rPr lang="en-US" dirty="0" err="1"/>
              <a:t>XGBoost</a:t>
            </a:r>
            <a:r>
              <a:rPr lang="en-US" dirty="0"/>
              <a:t>.</a:t>
            </a:r>
          </a:p>
          <a:p>
            <a:r>
              <a:rPr lang="en-US" dirty="0"/>
              <a:t>This approach provides strong performance with low computational cost.”</a:t>
            </a:r>
          </a:p>
          <a:p>
            <a:endParaRPr lang="en-US" dirty="0"/>
          </a:p>
        </p:txBody>
      </p:sp>
      <p:sp>
        <p:nvSpPr>
          <p:cNvPr id="4" name="Slide Number Placeholder 3"/>
          <p:cNvSpPr>
            <a:spLocks noGrp="1"/>
          </p:cNvSpPr>
          <p:nvPr>
            <p:ph type="sldNum" sz="quarter" idx="5"/>
          </p:nvPr>
        </p:nvSpPr>
        <p:spPr/>
        <p:txBody>
          <a:bodyPr/>
          <a:lstStyle/>
          <a:p>
            <a:fld id="{D0DDD95F-2841-4803-B5D7-65EE37313FDC}" type="slidenum">
              <a:rPr lang="en-US" smtClean="0"/>
              <a:t>15</a:t>
            </a:fld>
            <a:endParaRPr lang="en-US"/>
          </a:p>
        </p:txBody>
      </p:sp>
    </p:spTree>
    <p:extLst>
      <p:ext uri="{BB962C8B-B14F-4D97-AF65-F5344CB8AC3E}">
        <p14:creationId xmlns:p14="http://schemas.microsoft.com/office/powerpoint/2010/main" val="9147145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LLM-based models achieve accuracies above </a:t>
            </a:r>
            <a:r>
              <a:rPr lang="en-US" b="1" dirty="0"/>
              <a:t>96%</a:t>
            </a:r>
            <a:r>
              <a:rPr lang="en-US" dirty="0"/>
              <a:t>.</a:t>
            </a:r>
            <a:br>
              <a:rPr lang="en-US" dirty="0"/>
            </a:br>
            <a:r>
              <a:rPr lang="en-US" dirty="0"/>
              <a:t>LLM + </a:t>
            </a:r>
            <a:r>
              <a:rPr lang="en-US" dirty="0" err="1"/>
              <a:t>XGBoost</a:t>
            </a:r>
            <a:r>
              <a:rPr lang="en-US" dirty="0"/>
              <a:t> performs the best with about </a:t>
            </a:r>
            <a:r>
              <a:rPr lang="en-US" b="1" dirty="0"/>
              <a:t>97.5% accuracy</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“LLM + </a:t>
            </a:r>
            <a:r>
              <a:rPr lang="en-US" dirty="0" err="1"/>
              <a:t>XGBoost</a:t>
            </a:r>
            <a:r>
              <a:rPr lang="en-US" dirty="0"/>
              <a:t> also achieves the highest Macro-F1 score, indicating balanced performance across both classes.”</a:t>
            </a:r>
          </a:p>
          <a:p>
            <a:endParaRPr lang="en-US" dirty="0"/>
          </a:p>
        </p:txBody>
      </p:sp>
      <p:sp>
        <p:nvSpPr>
          <p:cNvPr id="4" name="Slide Number Placeholder 3"/>
          <p:cNvSpPr>
            <a:spLocks noGrp="1"/>
          </p:cNvSpPr>
          <p:nvPr>
            <p:ph type="sldNum" sz="quarter" idx="5"/>
          </p:nvPr>
        </p:nvSpPr>
        <p:spPr/>
        <p:txBody>
          <a:bodyPr/>
          <a:lstStyle/>
          <a:p>
            <a:fld id="{D0DDD95F-2841-4803-B5D7-65EE37313FDC}" type="slidenum">
              <a:rPr lang="en-US" smtClean="0"/>
              <a:t>16</a:t>
            </a:fld>
            <a:endParaRPr lang="en-US"/>
          </a:p>
        </p:txBody>
      </p:sp>
    </p:spTree>
    <p:extLst>
      <p:ext uri="{BB962C8B-B14F-4D97-AF65-F5344CB8AC3E}">
        <p14:creationId xmlns:p14="http://schemas.microsoft.com/office/powerpoint/2010/main" val="2746309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future, this model can be deployed as a real-time application or API.</a:t>
            </a:r>
            <a:br>
              <a:rPr lang="en-US" dirty="0"/>
            </a:br>
            <a:r>
              <a:rPr lang="en-US" dirty="0"/>
              <a:t>More advanced models like BERT can be explored, and the system can be retrained as fraud patterns evolve.”</a:t>
            </a:r>
          </a:p>
        </p:txBody>
      </p:sp>
      <p:sp>
        <p:nvSpPr>
          <p:cNvPr id="4" name="Slide Number Placeholder 3"/>
          <p:cNvSpPr>
            <a:spLocks noGrp="1"/>
          </p:cNvSpPr>
          <p:nvPr>
            <p:ph type="sldNum" sz="quarter" idx="5"/>
          </p:nvPr>
        </p:nvSpPr>
        <p:spPr/>
        <p:txBody>
          <a:bodyPr/>
          <a:lstStyle/>
          <a:p>
            <a:fld id="{D0DDD95F-2841-4803-B5D7-65EE37313FDC}" type="slidenum">
              <a:rPr lang="en-US" smtClean="0"/>
              <a:t>17</a:t>
            </a:fld>
            <a:endParaRPr lang="en-US"/>
          </a:p>
        </p:txBody>
      </p:sp>
    </p:spTree>
    <p:extLst>
      <p:ext uri="{BB962C8B-B14F-4D97-AF65-F5344CB8AC3E}">
        <p14:creationId xmlns:p14="http://schemas.microsoft.com/office/powerpoint/2010/main" val="3476377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784E835-7CA6-451B-9B92-AEFD5D839058}"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DE01F-B25D-467D-9B30-52CAC12DE635}" type="slidenum">
              <a:rPr lang="en-US" smtClean="0"/>
              <a:t>‹#›</a:t>
            </a:fld>
            <a:endParaRPr lang="en-US"/>
          </a:p>
        </p:txBody>
      </p:sp>
    </p:spTree>
    <p:extLst>
      <p:ext uri="{BB962C8B-B14F-4D97-AF65-F5344CB8AC3E}">
        <p14:creationId xmlns:p14="http://schemas.microsoft.com/office/powerpoint/2010/main" val="40620861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784E835-7CA6-451B-9B92-AEFD5D839058}"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DE01F-B25D-467D-9B30-52CAC12DE635}" type="slidenum">
              <a:rPr lang="en-US" smtClean="0"/>
              <a:t>‹#›</a:t>
            </a:fld>
            <a:endParaRPr lang="en-US"/>
          </a:p>
        </p:txBody>
      </p:sp>
    </p:spTree>
    <p:extLst>
      <p:ext uri="{BB962C8B-B14F-4D97-AF65-F5344CB8AC3E}">
        <p14:creationId xmlns:p14="http://schemas.microsoft.com/office/powerpoint/2010/main" val="6099426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84E835-7CA6-451B-9B92-AEFD5D839058}" type="datetimeFigureOut">
              <a:rPr lang="en-US" smtClean="0"/>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DE01F-B25D-467D-9B30-52CAC12DE635}" type="slidenum">
              <a:rPr lang="en-US" smtClean="0"/>
              <a:t>‹#›</a:t>
            </a:fld>
            <a:endParaRPr lang="en-US"/>
          </a:p>
        </p:txBody>
      </p:sp>
    </p:spTree>
    <p:extLst>
      <p:ext uri="{BB962C8B-B14F-4D97-AF65-F5344CB8AC3E}">
        <p14:creationId xmlns:p14="http://schemas.microsoft.com/office/powerpoint/2010/main" val="4163132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0784E835-7CA6-451B-9B92-AEFD5D839058}" type="datetimeFigureOut">
              <a:rPr lang="en-US" smtClean="0"/>
              <a:t>12/14/2025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39DE01F-B25D-467D-9B30-52CAC12DE635}" type="slidenum">
              <a:rPr lang="en-US" smtClean="0"/>
              <a:t>‹#›</a:t>
            </a:fld>
            <a:endParaRPr lang="en-US"/>
          </a:p>
        </p:txBody>
      </p:sp>
    </p:spTree>
    <p:extLst>
      <p:ext uri="{BB962C8B-B14F-4D97-AF65-F5344CB8AC3E}">
        <p14:creationId xmlns:p14="http://schemas.microsoft.com/office/powerpoint/2010/main" val="1157325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0784E835-7CA6-451B-9B92-AEFD5D839058}" type="datetimeFigureOut">
              <a:rPr lang="en-US" smtClean="0"/>
              <a:t>12/14/2025</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C39DE01F-B25D-467D-9B30-52CAC12DE635}" type="slidenum">
              <a:rPr lang="en-US" smtClean="0"/>
              <a:t>‹#›</a:t>
            </a:fld>
            <a:endParaRPr lang="en-US"/>
          </a:p>
        </p:txBody>
      </p:sp>
    </p:spTree>
    <p:extLst>
      <p:ext uri="{BB962C8B-B14F-4D97-AF65-F5344CB8AC3E}">
        <p14:creationId xmlns:p14="http://schemas.microsoft.com/office/powerpoint/2010/main" val="1735929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0784E835-7CA6-451B-9B92-AEFD5D839058}" type="datetimeFigureOut">
              <a:rPr lang="en-US" smtClean="0"/>
              <a:t>12/14/2025</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C39DE01F-B25D-467D-9B30-52CAC12DE635}" type="slidenum">
              <a:rPr lang="en-US" smtClean="0"/>
              <a:t>‹#›</a:t>
            </a:fld>
            <a:endParaRPr lang="en-US"/>
          </a:p>
        </p:txBody>
      </p:sp>
    </p:spTree>
    <p:extLst>
      <p:ext uri="{BB962C8B-B14F-4D97-AF65-F5344CB8AC3E}">
        <p14:creationId xmlns:p14="http://schemas.microsoft.com/office/powerpoint/2010/main" val="545238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0784E835-7CA6-451B-9B92-AEFD5D839058}" type="datetimeFigureOut">
              <a:rPr lang="en-US" smtClean="0"/>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9DE01F-B25D-467D-9B30-52CAC12DE635}" type="slidenum">
              <a:rPr lang="en-US" smtClean="0"/>
              <a:t>‹#›</a:t>
            </a:fld>
            <a:endParaRPr lang="en-US"/>
          </a:p>
        </p:txBody>
      </p:sp>
    </p:spTree>
    <p:extLst>
      <p:ext uri="{BB962C8B-B14F-4D97-AF65-F5344CB8AC3E}">
        <p14:creationId xmlns:p14="http://schemas.microsoft.com/office/powerpoint/2010/main" val="37116697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0784E835-7CA6-451B-9B92-AEFD5D839058}" type="datetimeFigureOut">
              <a:rPr lang="en-US" smtClean="0"/>
              <a:t>12/14/2025</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39DE01F-B25D-467D-9B30-52CAC12DE635}" type="slidenum">
              <a:rPr lang="en-US" smtClean="0"/>
              <a:t>‹#›</a:t>
            </a:fld>
            <a:endParaRPr lang="en-US"/>
          </a:p>
        </p:txBody>
      </p:sp>
    </p:spTree>
    <p:extLst>
      <p:ext uri="{BB962C8B-B14F-4D97-AF65-F5344CB8AC3E}">
        <p14:creationId xmlns:p14="http://schemas.microsoft.com/office/powerpoint/2010/main" val="2744892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0784E835-7CA6-451B-9B92-AEFD5D839058}" type="datetimeFigureOut">
              <a:rPr lang="en-US" smtClean="0"/>
              <a:t>12/14/2025</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C39DE01F-B25D-467D-9B30-52CAC12DE635}" type="slidenum">
              <a:rPr lang="en-US" smtClean="0"/>
              <a:t>‹#›</a:t>
            </a:fld>
            <a:endParaRPr lang="en-US"/>
          </a:p>
        </p:txBody>
      </p:sp>
    </p:spTree>
    <p:extLst>
      <p:ext uri="{BB962C8B-B14F-4D97-AF65-F5344CB8AC3E}">
        <p14:creationId xmlns:p14="http://schemas.microsoft.com/office/powerpoint/2010/main" val="3961514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784E835-7CA6-451B-9B92-AEFD5D839058}" type="datetimeFigureOut">
              <a:rPr lang="en-US" smtClean="0"/>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9DE01F-B25D-467D-9B30-52CAC12DE635}" type="slidenum">
              <a:rPr lang="en-US" smtClean="0"/>
              <a:t>‹#›</a:t>
            </a:fld>
            <a:endParaRPr lang="en-US"/>
          </a:p>
        </p:txBody>
      </p:sp>
    </p:spTree>
    <p:extLst>
      <p:ext uri="{BB962C8B-B14F-4D97-AF65-F5344CB8AC3E}">
        <p14:creationId xmlns:p14="http://schemas.microsoft.com/office/powerpoint/2010/main" val="132802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784E835-7CA6-451B-9B92-AEFD5D839058}" type="datetimeFigureOut">
              <a:rPr lang="en-US" smtClean="0"/>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9DE01F-B25D-467D-9B30-52CAC12DE635}" type="slidenum">
              <a:rPr lang="en-US" smtClean="0"/>
              <a:t>‹#›</a:t>
            </a:fld>
            <a:endParaRPr lang="en-US"/>
          </a:p>
        </p:txBody>
      </p:sp>
    </p:spTree>
    <p:extLst>
      <p:ext uri="{BB962C8B-B14F-4D97-AF65-F5344CB8AC3E}">
        <p14:creationId xmlns:p14="http://schemas.microsoft.com/office/powerpoint/2010/main" val="1941568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0784E835-7CA6-451B-9B92-AEFD5D839058}" type="datetimeFigureOut">
              <a:rPr lang="en-US" smtClean="0"/>
              <a:t>12/14/2025</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C39DE01F-B25D-467D-9B30-52CAC12DE635}" type="slidenum">
              <a:rPr lang="en-US" smtClean="0"/>
              <a:t>‹#›</a:t>
            </a:fld>
            <a:endParaRPr lang="en-US"/>
          </a:p>
        </p:txBody>
      </p:sp>
    </p:spTree>
    <p:extLst>
      <p:ext uri="{BB962C8B-B14F-4D97-AF65-F5344CB8AC3E}">
        <p14:creationId xmlns:p14="http://schemas.microsoft.com/office/powerpoint/2010/main" val="3526863433"/>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hyperlink" Target="https://www.kaggle.com/datasets/shivamb/real-or-fake-fake-jobposting-prediction" TargetMode="Externa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5A895-35B4-2229-4671-3AB537CF0C89}"/>
              </a:ext>
            </a:extLst>
          </p:cNvPr>
          <p:cNvSpPr>
            <a:spLocks noGrp="1"/>
          </p:cNvSpPr>
          <p:nvPr>
            <p:ph type="ctrTitle"/>
          </p:nvPr>
        </p:nvSpPr>
        <p:spPr>
          <a:xfrm>
            <a:off x="365759" y="1693334"/>
            <a:ext cx="8821199" cy="3471334"/>
          </a:xfrm>
        </p:spPr>
        <p:txBody>
          <a:bodyPr anchor="ctr">
            <a:normAutofit/>
          </a:bodyPr>
          <a:lstStyle/>
          <a:p>
            <a:pPr algn="l"/>
            <a:r>
              <a:rPr lang="en-US" sz="7400" b="1" dirty="0"/>
              <a:t>Fake Job Posting Prediction</a:t>
            </a:r>
            <a:br>
              <a:rPr lang="en-US" sz="7400" b="1" dirty="0"/>
            </a:br>
            <a:endParaRPr lang="en-US" sz="7400" dirty="0"/>
          </a:p>
        </p:txBody>
      </p:sp>
      <p:sp>
        <p:nvSpPr>
          <p:cNvPr id="3" name="Subtitle 2">
            <a:extLst>
              <a:ext uri="{FF2B5EF4-FFF2-40B4-BE49-F238E27FC236}">
                <a16:creationId xmlns:a16="http://schemas.microsoft.com/office/drawing/2014/main" id="{9D357772-C7A2-76BB-08B0-DD4B5E62363D}"/>
              </a:ext>
            </a:extLst>
          </p:cNvPr>
          <p:cNvSpPr>
            <a:spLocks noGrp="1"/>
          </p:cNvSpPr>
          <p:nvPr>
            <p:ph type="subTitle" idx="1"/>
          </p:nvPr>
        </p:nvSpPr>
        <p:spPr>
          <a:xfrm>
            <a:off x="0" y="5343565"/>
            <a:ext cx="9144000" cy="762635"/>
          </a:xfrm>
        </p:spPr>
        <p:txBody>
          <a:bodyPr>
            <a:normAutofit/>
          </a:bodyPr>
          <a:lstStyle/>
          <a:p>
            <a:pPr algn="r"/>
            <a:r>
              <a:rPr lang="en-US" sz="2800" b="1" dirty="0"/>
              <a:t>CHARAN NAGA SRI SAI SATYA GANNAPUREDDY</a:t>
            </a:r>
          </a:p>
        </p:txBody>
      </p:sp>
    </p:spTree>
    <p:extLst>
      <p:ext uri="{BB962C8B-B14F-4D97-AF65-F5344CB8AC3E}">
        <p14:creationId xmlns:p14="http://schemas.microsoft.com/office/powerpoint/2010/main" val="3275825790"/>
      </p:ext>
    </p:extLst>
  </p:cSld>
  <p:clrMapOvr>
    <a:masterClrMapping/>
  </p:clrMapOvr>
  <mc:AlternateContent xmlns:mc="http://schemas.openxmlformats.org/markup-compatibility/2006" xmlns:p14="http://schemas.microsoft.com/office/powerpoint/2010/main">
    <mc:Choice Requires="p14">
      <p:transition spd="slow" p14:dur="2000" advTm="35961"/>
    </mc:Choice>
    <mc:Fallback xmlns="">
      <p:transition spd="slow" advTm="35961"/>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A655E-DB07-6BFC-ED3F-99B77B901FDD}"/>
              </a:ext>
            </a:extLst>
          </p:cNvPr>
          <p:cNvSpPr>
            <a:spLocks noGrp="1"/>
          </p:cNvSpPr>
          <p:nvPr>
            <p:ph type="title"/>
          </p:nvPr>
        </p:nvSpPr>
        <p:spPr>
          <a:xfrm>
            <a:off x="-157480" y="1021080"/>
            <a:ext cx="3089437" cy="4206240"/>
          </a:xfrm>
        </p:spPr>
        <p:txBody>
          <a:bodyPr>
            <a:normAutofit/>
          </a:bodyPr>
          <a:lstStyle/>
          <a:p>
            <a:pPr algn="r"/>
            <a:r>
              <a:rPr lang="en-US" sz="3200" b="1" dirty="0">
                <a:solidFill>
                  <a:schemeClr val="bg1"/>
                </a:solidFill>
              </a:rPr>
              <a:t>Problem Statement</a:t>
            </a:r>
          </a:p>
        </p:txBody>
      </p:sp>
      <p:sp>
        <p:nvSpPr>
          <p:cNvPr id="3" name="Content Placeholder 2">
            <a:extLst>
              <a:ext uri="{FF2B5EF4-FFF2-40B4-BE49-F238E27FC236}">
                <a16:creationId xmlns:a16="http://schemas.microsoft.com/office/drawing/2014/main" id="{1238C89D-50AE-0CC9-94FE-89A8F3CB3CA5}"/>
              </a:ext>
            </a:extLst>
          </p:cNvPr>
          <p:cNvSpPr>
            <a:spLocks noGrp="1"/>
          </p:cNvSpPr>
          <p:nvPr>
            <p:ph idx="1"/>
          </p:nvPr>
        </p:nvSpPr>
        <p:spPr>
          <a:xfrm>
            <a:off x="4339334" y="1021080"/>
            <a:ext cx="6605331" cy="4605866"/>
          </a:xfrm>
        </p:spPr>
        <p:txBody>
          <a:bodyPr anchor="ctr">
            <a:normAutofit/>
          </a:bodyPr>
          <a:lstStyle/>
          <a:p>
            <a:pPr marL="0" indent="0">
              <a:buNone/>
            </a:pPr>
            <a:r>
              <a:rPr lang="en-US" dirty="0">
                <a:solidFill>
                  <a:schemeClr val="tx2"/>
                </a:solidFill>
              </a:rPr>
              <a:t>Online job portals are increasingly targeted by scammers who post fake job listings to steal personal information or money. These fraudulent postings harm job seekers and reduce trust in hiring platforms. The goal of this project is to build a machine learning model that can automatically detect fake job postings using text and metadata. The study also aims to understand which features most strongly differentiate real and fraudulent postings.</a:t>
            </a:r>
          </a:p>
        </p:txBody>
      </p:sp>
    </p:spTree>
    <p:extLst>
      <p:ext uri="{BB962C8B-B14F-4D97-AF65-F5344CB8AC3E}">
        <p14:creationId xmlns:p14="http://schemas.microsoft.com/office/powerpoint/2010/main" val="24093580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29949"/>
    </mc:Choice>
    <mc:Fallback xmlns="">
      <p:transition spd="slow" advTm="29949"/>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4D9BB-F09D-2255-207A-46D645946E1D}"/>
              </a:ext>
            </a:extLst>
          </p:cNvPr>
          <p:cNvSpPr>
            <a:spLocks noGrp="1"/>
          </p:cNvSpPr>
          <p:nvPr>
            <p:ph type="title"/>
          </p:nvPr>
        </p:nvSpPr>
        <p:spPr>
          <a:xfrm>
            <a:off x="622570" y="838646"/>
            <a:ext cx="3709991" cy="5180709"/>
          </a:xfrm>
        </p:spPr>
        <p:txBody>
          <a:bodyPr>
            <a:normAutofit/>
          </a:bodyPr>
          <a:lstStyle/>
          <a:p>
            <a:r>
              <a:rPr lang="en-US" sz="3600"/>
              <a:t>Methdology</a:t>
            </a:r>
          </a:p>
        </p:txBody>
      </p:sp>
      <p:sp>
        <p:nvSpPr>
          <p:cNvPr id="5" name="Rectangle 2">
            <a:extLst>
              <a:ext uri="{FF2B5EF4-FFF2-40B4-BE49-F238E27FC236}">
                <a16:creationId xmlns:a16="http://schemas.microsoft.com/office/drawing/2014/main" id="{A0072A98-89E8-A178-8B3C-3FB6BFBCBCB0}"/>
              </a:ext>
            </a:extLst>
          </p:cNvPr>
          <p:cNvSpPr>
            <a:spLocks noGrp="1" noChangeArrowheads="1"/>
          </p:cNvSpPr>
          <p:nvPr>
            <p:ph idx="1"/>
          </p:nvPr>
        </p:nvSpPr>
        <p:spPr bwMode="auto">
          <a:xfrm>
            <a:off x="3830320" y="838647"/>
            <a:ext cx="7156679" cy="5180708"/>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 anchorCtr="0" compatLnSpc="1">
            <a:prstTxWarp prst="textNoShape">
              <a:avLst/>
            </a:prstTxWarp>
            <a:noAutofit/>
          </a:bodyPr>
          <a:lstStyle/>
          <a:p>
            <a:pPr marL="0" marR="0" lvl="0" indent="0" defTabSz="914400" rtl="0" eaLnBrk="0" fontAlgn="base" latinLnBrk="0" hangingPunct="0">
              <a:spcBef>
                <a:spcPct val="0"/>
              </a:spcBef>
              <a:spcAft>
                <a:spcPts val="600"/>
              </a:spcAft>
              <a:buClrTx/>
              <a:buSzTx/>
              <a:buFontTx/>
              <a:buChar char="•"/>
              <a:tabLst/>
            </a:pPr>
            <a:r>
              <a:rPr kumimoji="0" lang="en-US" altLang="en-US" sz="1400" b="1" i="0" u="none" strike="noStrike" cap="none" normalizeH="0" baseline="0" dirty="0">
                <a:ln>
                  <a:noFill/>
                </a:ln>
                <a:solidFill>
                  <a:schemeClr val="tx2"/>
                </a:solidFill>
                <a:effectLst/>
                <a:latin typeface="Arial" panose="020B0604020202020204" pitchFamily="34" charset="0"/>
              </a:rPr>
              <a:t>Data Collection</a:t>
            </a:r>
            <a:br>
              <a:rPr kumimoji="0" lang="en-US" altLang="en-US" sz="1400" b="0" i="0" u="none" strike="noStrike" cap="none" normalizeH="0" baseline="0" dirty="0">
                <a:ln>
                  <a:noFill/>
                </a:ln>
                <a:solidFill>
                  <a:schemeClr val="tx2"/>
                </a:solidFill>
                <a:effectLst/>
                <a:latin typeface="Arial" panose="020B0604020202020204" pitchFamily="34" charset="0"/>
              </a:rPr>
            </a:br>
            <a:r>
              <a:rPr kumimoji="0" lang="en-US" altLang="en-US" sz="1400" b="0" i="0" u="none" strike="noStrike" cap="none" normalizeH="0" baseline="0" dirty="0">
                <a:ln>
                  <a:noFill/>
                </a:ln>
                <a:solidFill>
                  <a:schemeClr val="tx2"/>
                </a:solidFill>
                <a:effectLst/>
                <a:latin typeface="Arial" panose="020B0604020202020204" pitchFamily="34" charset="0"/>
              </a:rPr>
              <a:t>The dataset is gathered from the Kaggle “Real or Fake Job Posting” source, containing job postings with text, metadata, and labels indicating whether each posting is real or fraudulent.</a:t>
            </a:r>
          </a:p>
          <a:p>
            <a:pPr marL="0" marR="0" lvl="0" indent="0" defTabSz="914400" rtl="0" eaLnBrk="0" fontAlgn="base" latinLnBrk="0" hangingPunct="0">
              <a:spcBef>
                <a:spcPct val="0"/>
              </a:spcBef>
              <a:spcAft>
                <a:spcPts val="600"/>
              </a:spcAft>
              <a:buClrTx/>
              <a:buSzTx/>
              <a:buFontTx/>
              <a:buChar char="•"/>
              <a:tabLst/>
            </a:pPr>
            <a:r>
              <a:rPr kumimoji="0" lang="en-US" altLang="en-US" sz="1400" b="1" i="0" u="none" strike="noStrike" cap="none" normalizeH="0" baseline="0" dirty="0">
                <a:ln>
                  <a:noFill/>
                </a:ln>
                <a:solidFill>
                  <a:schemeClr val="tx2"/>
                </a:solidFill>
                <a:effectLst/>
                <a:latin typeface="Arial" panose="020B0604020202020204" pitchFamily="34" charset="0"/>
              </a:rPr>
              <a:t>Data Preprocessing</a:t>
            </a:r>
            <a:br>
              <a:rPr kumimoji="0" lang="en-US" altLang="en-US" sz="1400" b="0" i="0" u="none" strike="noStrike" cap="none" normalizeH="0" baseline="0" dirty="0">
                <a:ln>
                  <a:noFill/>
                </a:ln>
                <a:solidFill>
                  <a:schemeClr val="tx2"/>
                </a:solidFill>
                <a:effectLst/>
                <a:latin typeface="Arial" panose="020B0604020202020204" pitchFamily="34" charset="0"/>
              </a:rPr>
            </a:br>
            <a:r>
              <a:rPr kumimoji="0" lang="en-US" altLang="en-US" sz="1400" b="0" i="0" u="none" strike="noStrike" cap="none" normalizeH="0" baseline="0" dirty="0">
                <a:ln>
                  <a:noFill/>
                </a:ln>
                <a:solidFill>
                  <a:schemeClr val="tx2"/>
                </a:solidFill>
                <a:effectLst/>
                <a:latin typeface="Arial" panose="020B0604020202020204" pitchFamily="34" charset="0"/>
              </a:rPr>
              <a:t>Missing values are handled appropriately, and categorical or binary fields are cleaned so the dataset becomes consistent and usable for modeling.</a:t>
            </a:r>
          </a:p>
          <a:p>
            <a:pPr marL="0" marR="0" lvl="0" indent="0" defTabSz="914400" rtl="0" eaLnBrk="0" fontAlgn="base" latinLnBrk="0" hangingPunct="0">
              <a:spcBef>
                <a:spcPct val="0"/>
              </a:spcBef>
              <a:spcAft>
                <a:spcPts val="600"/>
              </a:spcAft>
              <a:buClrTx/>
              <a:buSzTx/>
              <a:buFontTx/>
              <a:buChar char="•"/>
              <a:tabLst/>
            </a:pPr>
            <a:r>
              <a:rPr kumimoji="0" lang="en-US" altLang="en-US" sz="1400" b="1" i="0" u="none" strike="noStrike" cap="none" normalizeH="0" baseline="0" dirty="0">
                <a:ln>
                  <a:noFill/>
                </a:ln>
                <a:solidFill>
                  <a:schemeClr val="tx2"/>
                </a:solidFill>
                <a:effectLst/>
                <a:latin typeface="Arial" panose="020B0604020202020204" pitchFamily="34" charset="0"/>
              </a:rPr>
              <a:t>NLP Text Processing</a:t>
            </a:r>
            <a:br>
              <a:rPr kumimoji="0" lang="en-US" altLang="en-US" sz="1400" b="0" i="0" u="none" strike="noStrike" cap="none" normalizeH="0" baseline="0" dirty="0">
                <a:ln>
                  <a:noFill/>
                </a:ln>
                <a:solidFill>
                  <a:schemeClr val="tx2"/>
                </a:solidFill>
                <a:effectLst/>
                <a:latin typeface="Arial" panose="020B0604020202020204" pitchFamily="34" charset="0"/>
              </a:rPr>
            </a:br>
            <a:r>
              <a:rPr kumimoji="0" lang="en-US" altLang="en-US" sz="1400" b="0" i="0" u="none" strike="noStrike" cap="none" normalizeH="0" baseline="0" dirty="0">
                <a:ln>
                  <a:noFill/>
                </a:ln>
                <a:solidFill>
                  <a:schemeClr val="tx2"/>
                </a:solidFill>
                <a:effectLst/>
                <a:latin typeface="Arial" panose="020B0604020202020204" pitchFamily="34" charset="0"/>
              </a:rPr>
              <a:t>Text fields such as </a:t>
            </a:r>
            <a:r>
              <a:rPr kumimoji="0" lang="en-US" altLang="en-US" sz="1400" b="0" i="1" u="none" strike="noStrike" cap="none" normalizeH="0" baseline="0" dirty="0">
                <a:ln>
                  <a:noFill/>
                </a:ln>
                <a:solidFill>
                  <a:schemeClr val="tx2"/>
                </a:solidFill>
                <a:effectLst/>
                <a:latin typeface="Arial" panose="020B0604020202020204" pitchFamily="34" charset="0"/>
              </a:rPr>
              <a:t>title, company profile, description,</a:t>
            </a:r>
            <a:r>
              <a:rPr kumimoji="0" lang="en-US" altLang="en-US" sz="1400" b="0" i="0" u="none" strike="noStrike" cap="none" normalizeH="0" baseline="0" dirty="0">
                <a:ln>
                  <a:noFill/>
                </a:ln>
                <a:solidFill>
                  <a:schemeClr val="tx2"/>
                </a:solidFill>
                <a:effectLst/>
                <a:latin typeface="Arial" panose="020B0604020202020204" pitchFamily="34" charset="0"/>
              </a:rPr>
              <a:t> and </a:t>
            </a:r>
            <a:r>
              <a:rPr kumimoji="0" lang="en-US" altLang="en-US" sz="1400" b="0" i="1" u="none" strike="noStrike" cap="none" normalizeH="0" baseline="0" dirty="0">
                <a:ln>
                  <a:noFill/>
                </a:ln>
                <a:solidFill>
                  <a:schemeClr val="tx2"/>
                </a:solidFill>
                <a:effectLst/>
                <a:latin typeface="Arial" panose="020B0604020202020204" pitchFamily="34" charset="0"/>
              </a:rPr>
              <a:t>requirements</a:t>
            </a:r>
            <a:r>
              <a:rPr kumimoji="0" lang="en-US" altLang="en-US" sz="1400" b="0" i="0" u="none" strike="noStrike" cap="none" normalizeH="0" baseline="0" dirty="0">
                <a:ln>
                  <a:noFill/>
                </a:ln>
                <a:solidFill>
                  <a:schemeClr val="tx2"/>
                </a:solidFill>
                <a:effectLst/>
                <a:latin typeface="Arial" panose="020B0604020202020204" pitchFamily="34" charset="0"/>
              </a:rPr>
              <a:t> are processed using NLP steps:</a:t>
            </a:r>
          </a:p>
          <a:p>
            <a:pPr marL="0" marR="0" lvl="0" indent="0" defTabSz="914400" rtl="0" eaLnBrk="0" fontAlgn="base" latinLnBrk="0" hangingPunct="0">
              <a:spcBef>
                <a:spcPct val="0"/>
              </a:spcBef>
              <a:spcAft>
                <a:spcPts val="600"/>
              </a:spcAft>
              <a:buClrTx/>
              <a:buSzTx/>
              <a:buFontTx/>
              <a:buChar char="•"/>
              <a:tabLst/>
            </a:pPr>
            <a:r>
              <a:rPr kumimoji="0" lang="en-US" altLang="en-US" sz="1400" b="0" i="0" u="none" strike="noStrike" cap="none" normalizeH="0" baseline="0" dirty="0">
                <a:ln>
                  <a:noFill/>
                </a:ln>
                <a:solidFill>
                  <a:schemeClr val="tx2"/>
                </a:solidFill>
                <a:effectLst/>
                <a:latin typeface="Arial" panose="020B0604020202020204" pitchFamily="34" charset="0"/>
              </a:rPr>
              <a:t>Lowercasing</a:t>
            </a:r>
          </a:p>
          <a:p>
            <a:pPr marL="0" marR="0" lvl="0" indent="0" defTabSz="914400" rtl="0" eaLnBrk="0" fontAlgn="base" latinLnBrk="0" hangingPunct="0">
              <a:spcBef>
                <a:spcPct val="0"/>
              </a:spcBef>
              <a:spcAft>
                <a:spcPts val="600"/>
              </a:spcAft>
              <a:buClrTx/>
              <a:buSzTx/>
              <a:buFontTx/>
              <a:buChar char="•"/>
              <a:tabLst/>
            </a:pPr>
            <a:r>
              <a:rPr kumimoji="0" lang="en-US" altLang="en-US" sz="1400" b="0" i="0" u="none" strike="noStrike" cap="none" normalizeH="0" baseline="0" dirty="0">
                <a:ln>
                  <a:noFill/>
                </a:ln>
                <a:solidFill>
                  <a:schemeClr val="tx2"/>
                </a:solidFill>
                <a:effectLst/>
                <a:latin typeface="Arial" panose="020B0604020202020204" pitchFamily="34" charset="0"/>
              </a:rPr>
              <a:t>Stop word removal</a:t>
            </a:r>
          </a:p>
          <a:p>
            <a:pPr marL="0" marR="0" lvl="0" indent="0" defTabSz="914400" rtl="0" eaLnBrk="0" fontAlgn="base" latinLnBrk="0" hangingPunct="0">
              <a:spcBef>
                <a:spcPct val="0"/>
              </a:spcBef>
              <a:spcAft>
                <a:spcPts val="600"/>
              </a:spcAft>
              <a:buClrTx/>
              <a:buSzTx/>
              <a:buFontTx/>
              <a:buChar char="•"/>
              <a:tabLst/>
            </a:pPr>
            <a:r>
              <a:rPr kumimoji="0" lang="en-US" altLang="en-US" sz="1400" b="0" i="0" u="none" strike="noStrike" cap="none" normalizeH="0" baseline="0" dirty="0">
                <a:ln>
                  <a:noFill/>
                </a:ln>
                <a:solidFill>
                  <a:schemeClr val="tx2"/>
                </a:solidFill>
                <a:effectLst/>
                <a:latin typeface="Arial" panose="020B0604020202020204" pitchFamily="34" charset="0"/>
              </a:rPr>
              <a:t>Tokenization and lemmatization</a:t>
            </a:r>
          </a:p>
          <a:p>
            <a:pPr marL="0" marR="0" lvl="0" indent="0" defTabSz="914400" rtl="0" eaLnBrk="0" fontAlgn="base" latinLnBrk="0" hangingPunct="0">
              <a:spcBef>
                <a:spcPct val="0"/>
              </a:spcBef>
              <a:spcAft>
                <a:spcPts val="600"/>
              </a:spcAft>
              <a:buClrTx/>
              <a:buSzTx/>
              <a:buFontTx/>
              <a:buChar char="•"/>
              <a:tabLst/>
            </a:pPr>
            <a:r>
              <a:rPr kumimoji="0" lang="en-US" altLang="en-US" sz="1400" b="0" i="0" u="none" strike="noStrike" cap="none" normalizeH="0" baseline="0" dirty="0">
                <a:ln>
                  <a:noFill/>
                </a:ln>
                <a:solidFill>
                  <a:schemeClr val="tx2"/>
                </a:solidFill>
                <a:effectLst/>
                <a:latin typeface="Arial" panose="020B0604020202020204" pitchFamily="34" charset="0"/>
              </a:rPr>
              <a:t>TF-IDF vectorization</a:t>
            </a:r>
          </a:p>
          <a:p>
            <a:pPr marL="0" marR="0" lvl="0" indent="0" defTabSz="914400" rtl="0" eaLnBrk="0" fontAlgn="base" latinLnBrk="0" hangingPunct="0">
              <a:spcBef>
                <a:spcPct val="0"/>
              </a:spcBef>
              <a:spcAft>
                <a:spcPts val="600"/>
              </a:spcAft>
              <a:buClrTx/>
              <a:buSzTx/>
              <a:buFontTx/>
              <a:buChar char="•"/>
              <a:tabLst/>
            </a:pPr>
            <a:r>
              <a:rPr kumimoji="0" lang="en-US" altLang="en-US" sz="1400" b="1" i="0" u="none" strike="noStrike" cap="none" normalizeH="0" baseline="0" dirty="0">
                <a:ln>
                  <a:noFill/>
                </a:ln>
                <a:solidFill>
                  <a:schemeClr val="tx2"/>
                </a:solidFill>
                <a:effectLst/>
                <a:latin typeface="Arial" panose="020B0604020202020204" pitchFamily="34" charset="0"/>
              </a:rPr>
              <a:t>Exploratory Data Analysis (EDA)</a:t>
            </a:r>
            <a:br>
              <a:rPr kumimoji="0" lang="en-US" altLang="en-US" sz="1400" b="0" i="0" u="none" strike="noStrike" cap="none" normalizeH="0" baseline="0" dirty="0">
                <a:ln>
                  <a:noFill/>
                </a:ln>
                <a:solidFill>
                  <a:schemeClr val="tx2"/>
                </a:solidFill>
                <a:effectLst/>
                <a:latin typeface="Arial" panose="020B0604020202020204" pitchFamily="34" charset="0"/>
              </a:rPr>
            </a:br>
            <a:r>
              <a:rPr kumimoji="0" lang="en-US" altLang="en-US" sz="1400" b="0" i="0" u="none" strike="noStrike" cap="none" normalizeH="0" baseline="0" dirty="0">
                <a:ln>
                  <a:noFill/>
                </a:ln>
                <a:solidFill>
                  <a:schemeClr val="tx2"/>
                </a:solidFill>
                <a:effectLst/>
                <a:latin typeface="Arial" panose="020B0604020202020204" pitchFamily="34" charset="0"/>
              </a:rPr>
              <a:t>The cleaned dataset is analyzed to understand patterns in fraudulent vs. real job postings, including text differences, distribution patterns, and metadata insights.</a:t>
            </a:r>
          </a:p>
          <a:p>
            <a:pPr marL="0" marR="0" lvl="0" indent="0" defTabSz="914400" rtl="0" eaLnBrk="0" fontAlgn="base" latinLnBrk="0" hangingPunct="0">
              <a:spcBef>
                <a:spcPct val="0"/>
              </a:spcBef>
              <a:spcAft>
                <a:spcPts val="600"/>
              </a:spcAft>
              <a:buClrTx/>
              <a:buSzTx/>
              <a:buFontTx/>
              <a:buChar char="•"/>
              <a:tabLst/>
            </a:pPr>
            <a:r>
              <a:rPr kumimoji="0" lang="en-US" altLang="en-US" sz="1400" b="1" i="0" u="none" strike="noStrike" cap="none" normalizeH="0" baseline="0" dirty="0">
                <a:ln>
                  <a:noFill/>
                </a:ln>
                <a:solidFill>
                  <a:schemeClr val="tx2"/>
                </a:solidFill>
                <a:effectLst/>
                <a:latin typeface="Arial" panose="020B0604020202020204" pitchFamily="34" charset="0"/>
              </a:rPr>
              <a:t>Train–Test Split</a:t>
            </a:r>
            <a:br>
              <a:rPr kumimoji="0" lang="en-US" altLang="en-US" sz="1400" b="0" i="0" u="none" strike="noStrike" cap="none" normalizeH="0" baseline="0" dirty="0">
                <a:ln>
                  <a:noFill/>
                </a:ln>
                <a:solidFill>
                  <a:schemeClr val="tx2"/>
                </a:solidFill>
                <a:effectLst/>
                <a:latin typeface="Arial" panose="020B0604020202020204" pitchFamily="34" charset="0"/>
              </a:rPr>
            </a:br>
            <a:r>
              <a:rPr kumimoji="0" lang="en-US" altLang="en-US" sz="1400" b="0" i="0" u="none" strike="noStrike" cap="none" normalizeH="0" baseline="0" dirty="0">
                <a:ln>
                  <a:noFill/>
                </a:ln>
                <a:solidFill>
                  <a:schemeClr val="tx2"/>
                </a:solidFill>
                <a:effectLst/>
                <a:latin typeface="Arial" panose="020B0604020202020204" pitchFamily="34" charset="0"/>
              </a:rPr>
              <a:t>The dataset is split into training and testing sets to ensure fair evaluation of the model.</a:t>
            </a:r>
          </a:p>
          <a:p>
            <a:pPr marL="0" marR="0" lvl="0" indent="0" defTabSz="914400" rtl="0" eaLnBrk="0" fontAlgn="base" latinLnBrk="0" hangingPunct="0">
              <a:spcBef>
                <a:spcPct val="0"/>
              </a:spcBef>
              <a:spcAft>
                <a:spcPts val="600"/>
              </a:spcAft>
              <a:buClrTx/>
              <a:buSzTx/>
              <a:buFontTx/>
              <a:buChar char="•"/>
              <a:tabLst/>
            </a:pPr>
            <a:r>
              <a:rPr kumimoji="0" lang="en-US" altLang="en-US" sz="1400" b="1" i="0" u="none" strike="noStrike" cap="none" normalizeH="0" baseline="0" dirty="0">
                <a:ln>
                  <a:noFill/>
                </a:ln>
                <a:solidFill>
                  <a:schemeClr val="tx2"/>
                </a:solidFill>
                <a:effectLst/>
                <a:latin typeface="Arial" panose="020B0604020202020204" pitchFamily="34" charset="0"/>
              </a:rPr>
              <a:t>Model Training</a:t>
            </a:r>
            <a:br>
              <a:rPr kumimoji="0" lang="en-US" altLang="en-US" sz="1400" b="0" i="0" u="none" strike="noStrike" cap="none" normalizeH="0" baseline="0" dirty="0">
                <a:ln>
                  <a:noFill/>
                </a:ln>
                <a:solidFill>
                  <a:schemeClr val="tx2"/>
                </a:solidFill>
                <a:effectLst/>
                <a:latin typeface="Arial" panose="020B0604020202020204" pitchFamily="34" charset="0"/>
              </a:rPr>
            </a:br>
            <a:r>
              <a:rPr kumimoji="0" lang="en-US" altLang="en-US" sz="1400" b="0" i="0" u="none" strike="noStrike" cap="none" normalizeH="0" baseline="0" dirty="0">
                <a:ln>
                  <a:noFill/>
                </a:ln>
                <a:solidFill>
                  <a:schemeClr val="tx2"/>
                </a:solidFill>
                <a:effectLst/>
                <a:latin typeface="Arial" panose="020B0604020202020204" pitchFamily="34" charset="0"/>
              </a:rPr>
              <a:t>Machine learning models are trained using the processed text and metadata features to classify postings as real or fraudulent.</a:t>
            </a:r>
          </a:p>
          <a:p>
            <a:pPr marL="0" marR="0" lvl="0" indent="0" defTabSz="914400" rtl="0" eaLnBrk="0" fontAlgn="base" latinLnBrk="0" hangingPunct="0">
              <a:spcBef>
                <a:spcPct val="0"/>
              </a:spcBef>
              <a:spcAft>
                <a:spcPts val="600"/>
              </a:spcAft>
              <a:buClrTx/>
              <a:buSzTx/>
              <a:buFontTx/>
              <a:buChar char="•"/>
              <a:tabLst/>
            </a:pPr>
            <a:r>
              <a:rPr kumimoji="0" lang="en-US" altLang="en-US" sz="1400" b="1" i="0" u="none" strike="noStrike" cap="none" normalizeH="0" baseline="0" dirty="0">
                <a:ln>
                  <a:noFill/>
                </a:ln>
                <a:solidFill>
                  <a:schemeClr val="tx2"/>
                </a:solidFill>
                <a:effectLst/>
                <a:latin typeface="Arial" panose="020B0604020202020204" pitchFamily="34" charset="0"/>
              </a:rPr>
              <a:t>Model Evaluation</a:t>
            </a:r>
            <a:br>
              <a:rPr kumimoji="0" lang="en-US" altLang="en-US" sz="1400" b="0" i="0" u="none" strike="noStrike" cap="none" normalizeH="0" baseline="0" dirty="0">
                <a:ln>
                  <a:noFill/>
                </a:ln>
                <a:solidFill>
                  <a:schemeClr val="tx2"/>
                </a:solidFill>
                <a:effectLst/>
                <a:latin typeface="Arial" panose="020B0604020202020204" pitchFamily="34" charset="0"/>
              </a:rPr>
            </a:br>
            <a:r>
              <a:rPr kumimoji="0" lang="en-US" altLang="en-US" sz="1400" b="0" i="0" u="none" strike="noStrike" cap="none" normalizeH="0" baseline="0" dirty="0">
                <a:ln>
                  <a:noFill/>
                </a:ln>
                <a:solidFill>
                  <a:schemeClr val="tx2"/>
                </a:solidFill>
                <a:effectLst/>
                <a:latin typeface="Arial" panose="020B0604020202020204" pitchFamily="34" charset="0"/>
              </a:rPr>
              <a:t>The trained model is assessed using metrics such as accuracy, precision, recall, F1-score, and AUC to determine overall performance.</a:t>
            </a:r>
          </a:p>
        </p:txBody>
      </p:sp>
    </p:spTree>
    <p:extLst>
      <p:ext uri="{BB962C8B-B14F-4D97-AF65-F5344CB8AC3E}">
        <p14:creationId xmlns:p14="http://schemas.microsoft.com/office/powerpoint/2010/main" val="33038095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47017"/>
    </mc:Choice>
    <mc:Fallback xmlns="">
      <p:transition spd="slow" advTm="4701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4C9EE1D-12BB-43F7-9A2A-893578DCA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43962A31-C54E-4762-B155-59777FED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6" name="Rectangle 15">
            <a:extLst>
              <a:ext uri="{FF2B5EF4-FFF2-40B4-BE49-F238E27FC236}">
                <a16:creationId xmlns:a16="http://schemas.microsoft.com/office/drawing/2014/main" id="{4B392D36-B685-45E0-B197-6EE5D7480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DCA8533-CC5E-4754-9A04-047EDE49E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67639"/>
            <a:ext cx="11707367" cy="1852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028DF33-7211-E7CB-4C32-E0FE1ABC6008}"/>
              </a:ext>
            </a:extLst>
          </p:cNvPr>
          <p:cNvSpPr>
            <a:spLocks noGrp="1"/>
          </p:cNvSpPr>
          <p:nvPr>
            <p:ph type="title"/>
          </p:nvPr>
        </p:nvSpPr>
        <p:spPr>
          <a:xfrm>
            <a:off x="1069848" y="4590661"/>
            <a:ext cx="10210862" cy="1065690"/>
          </a:xfrm>
        </p:spPr>
        <p:txBody>
          <a:bodyPr vert="horz" lIns="91440" tIns="45720" rIns="91440" bIns="45720" rtlCol="0" anchor="b">
            <a:normAutofit/>
          </a:bodyPr>
          <a:lstStyle/>
          <a:p>
            <a:r>
              <a:rPr lang="en-US" sz="5900" spc="-100"/>
              <a:t>Dataset.</a:t>
            </a:r>
          </a:p>
        </p:txBody>
      </p:sp>
      <p:pic>
        <p:nvPicPr>
          <p:cNvPr id="5" name="Content Placeholder 4">
            <a:extLst>
              <a:ext uri="{FF2B5EF4-FFF2-40B4-BE49-F238E27FC236}">
                <a16:creationId xmlns:a16="http://schemas.microsoft.com/office/drawing/2014/main" id="{FC27ACB7-8F36-5ED5-5888-51335844DBCA}"/>
              </a:ext>
            </a:extLst>
          </p:cNvPr>
          <p:cNvPicPr>
            <a:picLocks noChangeAspect="1"/>
          </p:cNvPicPr>
          <p:nvPr/>
        </p:nvPicPr>
        <p:blipFill>
          <a:blip r:embed="rId3"/>
          <a:stretch>
            <a:fillRect/>
          </a:stretch>
        </p:blipFill>
        <p:spPr>
          <a:xfrm>
            <a:off x="193040" y="325120"/>
            <a:ext cx="5660645" cy="3825892"/>
          </a:xfrm>
          <a:prstGeom prst="rect">
            <a:avLst/>
          </a:prstGeom>
        </p:spPr>
      </p:pic>
      <p:pic>
        <p:nvPicPr>
          <p:cNvPr id="7" name="Picture 6">
            <a:extLst>
              <a:ext uri="{FF2B5EF4-FFF2-40B4-BE49-F238E27FC236}">
                <a16:creationId xmlns:a16="http://schemas.microsoft.com/office/drawing/2014/main" id="{34B068E1-9F36-BBC7-9D9B-EC61248C4EB8}"/>
              </a:ext>
            </a:extLst>
          </p:cNvPr>
          <p:cNvPicPr>
            <a:picLocks noChangeAspect="1"/>
          </p:cNvPicPr>
          <p:nvPr/>
        </p:nvPicPr>
        <p:blipFill>
          <a:blip r:embed="rId4"/>
          <a:stretch>
            <a:fillRect/>
          </a:stretch>
        </p:blipFill>
        <p:spPr>
          <a:xfrm>
            <a:off x="5853683" y="270372"/>
            <a:ext cx="5853684" cy="3880640"/>
          </a:xfrm>
          <a:prstGeom prst="rect">
            <a:avLst/>
          </a:prstGeom>
        </p:spPr>
      </p:pic>
      <p:sp>
        <p:nvSpPr>
          <p:cNvPr id="4" name="TextBox 3">
            <a:extLst>
              <a:ext uri="{FF2B5EF4-FFF2-40B4-BE49-F238E27FC236}">
                <a16:creationId xmlns:a16="http://schemas.microsoft.com/office/drawing/2014/main" id="{7530D457-AB50-59A4-4E43-EDF945F8908C}"/>
              </a:ext>
            </a:extLst>
          </p:cNvPr>
          <p:cNvSpPr txBox="1"/>
          <p:nvPr/>
        </p:nvSpPr>
        <p:spPr>
          <a:xfrm>
            <a:off x="4710006" y="4434007"/>
            <a:ext cx="6101080" cy="1661993"/>
          </a:xfrm>
          <a:prstGeom prst="rect">
            <a:avLst/>
          </a:prstGeom>
          <a:noFill/>
        </p:spPr>
        <p:txBody>
          <a:bodyPr wrap="square">
            <a:spAutoFit/>
          </a:bodyPr>
          <a:lstStyle/>
          <a:p>
            <a:pPr algn="l">
              <a:spcAft>
                <a:spcPts val="1200"/>
              </a:spcAft>
              <a:buFont typeface="Arial" panose="020B0604020202020204" pitchFamily="34" charset="0"/>
              <a:buChar char="•"/>
            </a:pPr>
            <a:r>
              <a:rPr lang="en-US" b="1" i="0" dirty="0">
                <a:solidFill>
                  <a:srgbClr val="F0F6FC"/>
                </a:solidFill>
                <a:effectLst/>
                <a:latin typeface="-apple-system"/>
              </a:rPr>
              <a:t>Source</a:t>
            </a:r>
            <a:r>
              <a:rPr lang="en-US" b="0" i="0" dirty="0">
                <a:solidFill>
                  <a:srgbClr val="F0F6FC"/>
                </a:solidFill>
                <a:effectLst/>
                <a:latin typeface="-apple-system"/>
              </a:rPr>
              <a:t>: </a:t>
            </a:r>
            <a:r>
              <a:rPr lang="en-US" b="0" i="0" u="sng" dirty="0">
                <a:solidFill>
                  <a:schemeClr val="bg1"/>
                </a:solidFill>
                <a:effectLst/>
                <a:latin typeface="-apple-system"/>
                <a:hlinkClick r:id="rId5">
                  <a:extLst>
                    <a:ext uri="{A12FA001-AC4F-418D-AE19-62706E023703}">
                      <ahyp:hlinkClr xmlns:ahyp="http://schemas.microsoft.com/office/drawing/2018/hyperlinkcolor" val="tx"/>
                    </a:ext>
                  </a:extLst>
                </a:hlinkClick>
              </a:rPr>
              <a:t>Kaggle – Real or Fake Job Posting Prediction Dataset</a:t>
            </a:r>
            <a:endParaRPr lang="en-US" b="0" i="0" dirty="0">
              <a:solidFill>
                <a:schemeClr val="bg1"/>
              </a:solidFill>
              <a:effectLst/>
              <a:latin typeface="-apple-system"/>
            </a:endParaRPr>
          </a:p>
          <a:p>
            <a:pPr algn="l">
              <a:spcAft>
                <a:spcPts val="1200"/>
              </a:spcAft>
              <a:buFont typeface="Arial" panose="020B0604020202020204" pitchFamily="34" charset="0"/>
              <a:buChar char="•"/>
            </a:pPr>
            <a:r>
              <a:rPr lang="en-US" b="1" i="0" dirty="0">
                <a:solidFill>
                  <a:srgbClr val="F0F6FC"/>
                </a:solidFill>
                <a:effectLst/>
                <a:latin typeface="-apple-system"/>
              </a:rPr>
              <a:t>Size</a:t>
            </a:r>
            <a:r>
              <a:rPr lang="en-US" b="0" i="0" dirty="0">
                <a:solidFill>
                  <a:srgbClr val="F0F6FC"/>
                </a:solidFill>
                <a:effectLst/>
                <a:latin typeface="-apple-system"/>
              </a:rPr>
              <a:t>: ~17 MB</a:t>
            </a:r>
          </a:p>
          <a:p>
            <a:pPr algn="l">
              <a:spcAft>
                <a:spcPts val="1200"/>
              </a:spcAft>
              <a:buFont typeface="Arial" panose="020B0604020202020204" pitchFamily="34" charset="0"/>
              <a:buChar char="•"/>
            </a:pPr>
            <a:r>
              <a:rPr lang="en-US" b="1" i="0" dirty="0">
                <a:solidFill>
                  <a:srgbClr val="F0F6FC"/>
                </a:solidFill>
                <a:effectLst/>
                <a:latin typeface="-apple-system"/>
              </a:rPr>
              <a:t>Shape</a:t>
            </a:r>
            <a:r>
              <a:rPr lang="en-US" b="0" i="0" dirty="0">
                <a:solidFill>
                  <a:srgbClr val="F0F6FC"/>
                </a:solidFill>
                <a:effectLst/>
                <a:latin typeface="-apple-system"/>
              </a:rPr>
              <a:t>: 17,880 rows × 18 columns</a:t>
            </a:r>
          </a:p>
          <a:p>
            <a:pPr algn="l">
              <a:spcAft>
                <a:spcPts val="1200"/>
              </a:spcAft>
              <a:buFont typeface="Arial" panose="020B0604020202020204" pitchFamily="34" charset="0"/>
              <a:buChar char="•"/>
            </a:pPr>
            <a:r>
              <a:rPr lang="en-US" b="1" i="0" dirty="0">
                <a:solidFill>
                  <a:srgbClr val="F0F6FC"/>
                </a:solidFill>
                <a:effectLst/>
                <a:latin typeface="-apple-system"/>
              </a:rPr>
              <a:t>Unit of Observation</a:t>
            </a:r>
            <a:r>
              <a:rPr lang="en-US" b="0" i="0" dirty="0">
                <a:solidFill>
                  <a:srgbClr val="F0F6FC"/>
                </a:solidFill>
                <a:effectLst/>
                <a:latin typeface="-apple-system"/>
              </a:rPr>
              <a:t>: Each row = one job posting</a:t>
            </a:r>
          </a:p>
        </p:txBody>
      </p:sp>
    </p:spTree>
    <p:extLst>
      <p:ext uri="{BB962C8B-B14F-4D97-AF65-F5344CB8AC3E}">
        <p14:creationId xmlns:p14="http://schemas.microsoft.com/office/powerpoint/2010/main" val="1204089612"/>
      </p:ext>
    </p:extLst>
  </p:cSld>
  <p:clrMapOvr>
    <a:masterClrMapping/>
  </p:clrMapOvr>
  <mc:AlternateContent xmlns:mc="http://schemas.openxmlformats.org/markup-compatibility/2006" xmlns:p14="http://schemas.microsoft.com/office/powerpoint/2010/main">
    <mc:Choice Requires="p14">
      <p:transition spd="slow" p14:dur="2000" advTm="29832"/>
    </mc:Choice>
    <mc:Fallback xmlns="">
      <p:transition spd="slow" advTm="29832"/>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0864E5C9-52C9-4572-AC75-548B9B9C26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5CC6500-4DBD-4C34-BC14-2387FB483B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761999"/>
            <a:ext cx="4642228"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B8F80C4B-C975-06BA-FADF-BF03DE1F1131}"/>
              </a:ext>
            </a:extLst>
          </p:cNvPr>
          <p:cNvSpPr>
            <a:spLocks noGrp="1"/>
          </p:cNvSpPr>
          <p:nvPr>
            <p:ph type="title"/>
          </p:nvPr>
        </p:nvSpPr>
        <p:spPr>
          <a:xfrm>
            <a:off x="1069849" y="1298448"/>
            <a:ext cx="3258688" cy="3255264"/>
          </a:xfrm>
        </p:spPr>
        <p:txBody>
          <a:bodyPr vert="horz" lIns="91440" tIns="45720" rIns="91440" bIns="45720" rtlCol="0" anchor="b">
            <a:normAutofit/>
          </a:bodyPr>
          <a:lstStyle/>
          <a:p>
            <a:r>
              <a:rPr lang="en-US" sz="5000" spc="-100" dirty="0"/>
              <a:t>Exploratory data analysis</a:t>
            </a:r>
          </a:p>
        </p:txBody>
      </p:sp>
      <p:pic>
        <p:nvPicPr>
          <p:cNvPr id="5" name="Content Placeholder 4">
            <a:extLst>
              <a:ext uri="{FF2B5EF4-FFF2-40B4-BE49-F238E27FC236}">
                <a16:creationId xmlns:a16="http://schemas.microsoft.com/office/drawing/2014/main" id="{968FCD5E-1614-C33A-37FA-E0BA6E2E58E7}"/>
              </a:ext>
            </a:extLst>
          </p:cNvPr>
          <p:cNvPicPr>
            <a:picLocks noChangeAspect="1"/>
          </p:cNvPicPr>
          <p:nvPr/>
        </p:nvPicPr>
        <p:blipFill>
          <a:blip r:embed="rId3"/>
          <a:stretch>
            <a:fillRect/>
          </a:stretch>
        </p:blipFill>
        <p:spPr>
          <a:xfrm>
            <a:off x="5120640" y="1474947"/>
            <a:ext cx="6367271" cy="3899953"/>
          </a:xfrm>
          <a:prstGeom prst="rect">
            <a:avLst/>
          </a:prstGeom>
        </p:spPr>
      </p:pic>
      <p:sp>
        <p:nvSpPr>
          <p:cNvPr id="18" name="Rectangle 17">
            <a:extLst>
              <a:ext uri="{FF2B5EF4-FFF2-40B4-BE49-F238E27FC236}">
                <a16:creationId xmlns:a16="http://schemas.microsoft.com/office/drawing/2014/main" id="{4E34A3B6-BAD2-4156-BDC6-4736248BF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88624737"/>
      </p:ext>
    </p:extLst>
  </p:cSld>
  <p:clrMapOvr>
    <a:masterClrMapping/>
  </p:clrMapOvr>
  <mc:AlternateContent xmlns:mc="http://schemas.openxmlformats.org/markup-compatibility/2006" xmlns:p14="http://schemas.microsoft.com/office/powerpoint/2010/main">
    <mc:Choice Requires="p14">
      <p:transition spd="slow" p14:dur="2000" advTm="49617"/>
    </mc:Choice>
    <mc:Fallback xmlns="">
      <p:transition spd="slow" advTm="49617"/>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EEF09-B556-6F1D-14FE-48ABF38D7084}"/>
              </a:ext>
            </a:extLst>
          </p:cNvPr>
          <p:cNvSpPr>
            <a:spLocks noGrp="1"/>
          </p:cNvSpPr>
          <p:nvPr>
            <p:ph type="title"/>
          </p:nvPr>
        </p:nvSpPr>
        <p:spPr>
          <a:xfrm>
            <a:off x="769386" y="1109357"/>
            <a:ext cx="2947482" cy="4601183"/>
          </a:xfrm>
        </p:spPr>
        <p:txBody>
          <a:bodyPr vert="horz" lIns="91440" tIns="45720" rIns="91440" bIns="45720" rtlCol="0">
            <a:normAutofit/>
          </a:bodyPr>
          <a:lstStyle/>
          <a:p>
            <a:r>
              <a:rPr lang="en-US" spc="150" dirty="0"/>
              <a:t>EDA</a:t>
            </a:r>
          </a:p>
        </p:txBody>
      </p:sp>
      <p:pic>
        <p:nvPicPr>
          <p:cNvPr id="5" name="Content Placeholder 4">
            <a:extLst>
              <a:ext uri="{FF2B5EF4-FFF2-40B4-BE49-F238E27FC236}">
                <a16:creationId xmlns:a16="http://schemas.microsoft.com/office/drawing/2014/main" id="{8D510583-DE65-D4C2-7CA9-146113C0DAC4}"/>
              </a:ext>
            </a:extLst>
          </p:cNvPr>
          <p:cNvPicPr>
            <a:picLocks noChangeAspect="1"/>
          </p:cNvPicPr>
          <p:nvPr/>
        </p:nvPicPr>
        <p:blipFill>
          <a:blip r:embed="rId3"/>
          <a:srcRect r="-2" b="23038"/>
          <a:stretch>
            <a:fillRect/>
          </a:stretch>
        </p:blipFill>
        <p:spPr>
          <a:xfrm>
            <a:off x="3556000" y="347978"/>
            <a:ext cx="8514080" cy="6123942"/>
          </a:xfrm>
          <a:prstGeom prst="rect">
            <a:avLst/>
          </a:prstGeom>
        </p:spPr>
      </p:pic>
      <p:pic>
        <p:nvPicPr>
          <p:cNvPr id="7" name="Picture 6">
            <a:extLst>
              <a:ext uri="{FF2B5EF4-FFF2-40B4-BE49-F238E27FC236}">
                <a16:creationId xmlns:a16="http://schemas.microsoft.com/office/drawing/2014/main" id="{B301ACB1-BA7E-F7C1-103C-11AC69A9E527}"/>
              </a:ext>
            </a:extLst>
          </p:cNvPr>
          <p:cNvPicPr>
            <a:picLocks noChangeAspect="1"/>
          </p:cNvPicPr>
          <p:nvPr/>
        </p:nvPicPr>
        <p:blipFill>
          <a:blip r:embed="rId4"/>
          <a:srcRect l="7869" r="51782"/>
          <a:stretch>
            <a:fillRect/>
          </a:stretch>
        </p:blipFill>
        <p:spPr>
          <a:xfrm>
            <a:off x="8385387" y="3424428"/>
            <a:ext cx="3553694" cy="2681732"/>
          </a:xfrm>
          <a:prstGeom prst="rect">
            <a:avLst/>
          </a:prstGeom>
        </p:spPr>
      </p:pic>
    </p:spTree>
    <p:extLst>
      <p:ext uri="{BB962C8B-B14F-4D97-AF65-F5344CB8AC3E}">
        <p14:creationId xmlns:p14="http://schemas.microsoft.com/office/powerpoint/2010/main" val="2000549967"/>
      </p:ext>
    </p:extLst>
  </p:cSld>
  <p:clrMapOvr>
    <a:masterClrMapping/>
  </p:clrMapOvr>
  <mc:AlternateContent xmlns:mc="http://schemas.openxmlformats.org/markup-compatibility/2006" xmlns:p14="http://schemas.microsoft.com/office/powerpoint/2010/main">
    <mc:Choice Requires="p14">
      <p:transition spd="slow" p14:dur="2000" advTm="69047"/>
    </mc:Choice>
    <mc:Fallback xmlns="">
      <p:transition spd="slow" advTm="6904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A7849-CFD1-F889-D035-336EB83A8715}"/>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Heatmap</a:t>
            </a:r>
          </a:p>
        </p:txBody>
      </p:sp>
      <p:pic>
        <p:nvPicPr>
          <p:cNvPr id="5" name="Picture 4">
            <a:extLst>
              <a:ext uri="{FF2B5EF4-FFF2-40B4-BE49-F238E27FC236}">
                <a16:creationId xmlns:a16="http://schemas.microsoft.com/office/drawing/2014/main" id="{79BA2FDF-0DFF-70A2-BC63-5FF7027650DF}"/>
              </a:ext>
            </a:extLst>
          </p:cNvPr>
          <p:cNvPicPr>
            <a:picLocks noChangeAspect="1"/>
          </p:cNvPicPr>
          <p:nvPr/>
        </p:nvPicPr>
        <p:blipFill>
          <a:blip r:embed="rId3"/>
          <a:stretch>
            <a:fillRect/>
          </a:stretch>
        </p:blipFill>
        <p:spPr>
          <a:xfrm>
            <a:off x="4482676" y="1452625"/>
            <a:ext cx="6780700" cy="4560021"/>
          </a:xfrm>
          <a:prstGeom prst="rect">
            <a:avLst/>
          </a:prstGeom>
        </p:spPr>
      </p:pic>
    </p:spTree>
    <p:extLst>
      <p:ext uri="{BB962C8B-B14F-4D97-AF65-F5344CB8AC3E}">
        <p14:creationId xmlns:p14="http://schemas.microsoft.com/office/powerpoint/2010/main" val="2601876294"/>
      </p:ext>
    </p:extLst>
  </p:cSld>
  <p:clrMapOvr>
    <a:masterClrMapping/>
  </p:clrMapOvr>
  <mc:AlternateContent xmlns:mc="http://schemas.openxmlformats.org/markup-compatibility/2006" xmlns:p14="http://schemas.microsoft.com/office/powerpoint/2010/main">
    <mc:Choice Requires="p14">
      <p:transition spd="slow" p14:dur="2000" advTm="30848"/>
    </mc:Choice>
    <mc:Fallback xmlns="">
      <p:transition spd="slow" advTm="30848"/>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F4185-F0AC-5219-131C-5A1C54B85608}"/>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EDA</a:t>
            </a:r>
          </a:p>
        </p:txBody>
      </p:sp>
      <p:pic>
        <p:nvPicPr>
          <p:cNvPr id="4" name="Content Placeholder 3">
            <a:extLst>
              <a:ext uri="{FF2B5EF4-FFF2-40B4-BE49-F238E27FC236}">
                <a16:creationId xmlns:a16="http://schemas.microsoft.com/office/drawing/2014/main" id="{756C8B8B-6CA9-B911-0D13-3349A91C1635}"/>
              </a:ext>
            </a:extLst>
          </p:cNvPr>
          <p:cNvPicPr>
            <a:picLocks noGrp="1" noChangeAspect="1"/>
          </p:cNvPicPr>
          <p:nvPr>
            <p:ph idx="1"/>
          </p:nvPr>
        </p:nvPicPr>
        <p:blipFill>
          <a:blip r:embed="rId3"/>
          <a:stretch>
            <a:fillRect/>
          </a:stretch>
        </p:blipFill>
        <p:spPr>
          <a:xfrm>
            <a:off x="3868738" y="883211"/>
            <a:ext cx="7315200" cy="5082052"/>
          </a:xfrm>
          <a:prstGeom prst="rect">
            <a:avLst/>
          </a:prstGeom>
        </p:spPr>
      </p:pic>
    </p:spTree>
    <p:extLst>
      <p:ext uri="{BB962C8B-B14F-4D97-AF65-F5344CB8AC3E}">
        <p14:creationId xmlns:p14="http://schemas.microsoft.com/office/powerpoint/2010/main" val="3350652946"/>
      </p:ext>
    </p:extLst>
  </p:cSld>
  <p:clrMapOvr>
    <a:masterClrMapping/>
  </p:clrMapOvr>
  <mc:AlternateContent xmlns:mc="http://schemas.openxmlformats.org/markup-compatibility/2006" xmlns:p14="http://schemas.microsoft.com/office/powerpoint/2010/main">
    <mc:Choice Requires="p14">
      <p:transition spd="slow" p14:dur="2000" advTm="24043"/>
    </mc:Choice>
    <mc:Fallback xmlns="">
      <p:transition spd="slow" advTm="2404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34DEE-4E4C-B2EF-17F5-4CF94A2CF349}"/>
              </a:ext>
            </a:extLst>
          </p:cNvPr>
          <p:cNvSpPr>
            <a:spLocks noGrp="1"/>
          </p:cNvSpPr>
          <p:nvPr>
            <p:ph type="title"/>
          </p:nvPr>
        </p:nvSpPr>
        <p:spPr>
          <a:xfrm>
            <a:off x="408940" y="192662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Word count</a:t>
            </a:r>
          </a:p>
        </p:txBody>
      </p:sp>
      <p:pic>
        <p:nvPicPr>
          <p:cNvPr id="5" name="Content Placeholder 4">
            <a:extLst>
              <a:ext uri="{FF2B5EF4-FFF2-40B4-BE49-F238E27FC236}">
                <a16:creationId xmlns:a16="http://schemas.microsoft.com/office/drawing/2014/main" id="{71AC7F8C-8271-539F-1312-24861618D0DB}"/>
              </a:ext>
            </a:extLst>
          </p:cNvPr>
          <p:cNvPicPr>
            <a:picLocks noGrp="1" noChangeAspect="1"/>
          </p:cNvPicPr>
          <p:nvPr>
            <p:ph idx="1"/>
          </p:nvPr>
        </p:nvPicPr>
        <p:blipFill>
          <a:blip r:embed="rId3"/>
          <a:stretch>
            <a:fillRect/>
          </a:stretch>
        </p:blipFill>
        <p:spPr>
          <a:xfrm>
            <a:off x="4127076" y="1449423"/>
            <a:ext cx="6780700" cy="4220985"/>
          </a:xfrm>
          <a:prstGeom prst="rect">
            <a:avLst/>
          </a:prstGeom>
        </p:spPr>
      </p:pic>
    </p:spTree>
    <p:extLst>
      <p:ext uri="{BB962C8B-B14F-4D97-AF65-F5344CB8AC3E}">
        <p14:creationId xmlns:p14="http://schemas.microsoft.com/office/powerpoint/2010/main" val="2907547321"/>
      </p:ext>
    </p:extLst>
  </p:cSld>
  <p:clrMapOvr>
    <a:masterClrMapping/>
  </p:clrMapOvr>
  <mc:AlternateContent xmlns:mc="http://schemas.openxmlformats.org/markup-compatibility/2006" xmlns:p14="http://schemas.microsoft.com/office/powerpoint/2010/main">
    <mc:Choice Requires="p14">
      <p:transition spd="slow" p14:dur="2000" advTm="41601"/>
    </mc:Choice>
    <mc:Fallback xmlns="">
      <p:transition spd="slow" advTm="4160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3CF16-3582-42C4-5B40-54058D2E1CF9}"/>
              </a:ext>
            </a:extLst>
          </p:cNvPr>
          <p:cNvSpPr>
            <a:spLocks noGrp="1"/>
          </p:cNvSpPr>
          <p:nvPr>
            <p:ph type="title"/>
          </p:nvPr>
        </p:nvSpPr>
        <p:spPr>
          <a:xfrm>
            <a:off x="211328" y="552091"/>
            <a:ext cx="3600860" cy="5431536"/>
          </a:xfrm>
        </p:spPr>
        <p:txBody>
          <a:bodyPr>
            <a:normAutofit/>
          </a:bodyPr>
          <a:lstStyle/>
          <a:p>
            <a:r>
              <a:rPr lang="en-US" sz="5400" b="1" dirty="0"/>
              <a:t>One-Hot Encoding</a:t>
            </a:r>
            <a:br>
              <a:rPr lang="en-US" sz="5400" b="1" dirty="0"/>
            </a:br>
            <a:endParaRPr lang="en-US" sz="5400" dirty="0"/>
          </a:p>
        </p:txBody>
      </p:sp>
      <p:sp>
        <p:nvSpPr>
          <p:cNvPr id="3" name="Content Placeholder 2">
            <a:extLst>
              <a:ext uri="{FF2B5EF4-FFF2-40B4-BE49-F238E27FC236}">
                <a16:creationId xmlns:a16="http://schemas.microsoft.com/office/drawing/2014/main" id="{7D9B3230-36C6-B50F-49D6-12B18F81F0C8}"/>
              </a:ext>
            </a:extLst>
          </p:cNvPr>
          <p:cNvSpPr>
            <a:spLocks noGrp="1"/>
          </p:cNvSpPr>
          <p:nvPr>
            <p:ph idx="1"/>
          </p:nvPr>
        </p:nvSpPr>
        <p:spPr>
          <a:xfrm>
            <a:off x="4089400" y="552091"/>
            <a:ext cx="7261353" cy="5431536"/>
          </a:xfrm>
        </p:spPr>
        <p:txBody>
          <a:bodyPr anchor="ctr">
            <a:normAutofit/>
          </a:bodyPr>
          <a:lstStyle/>
          <a:p>
            <a:r>
              <a:rPr lang="en-US" sz="2200" dirty="0"/>
              <a:t>Converted categorical columns, department, </a:t>
            </a:r>
            <a:r>
              <a:rPr lang="en-US" sz="2200" dirty="0" err="1"/>
              <a:t>salary_range</a:t>
            </a:r>
            <a:r>
              <a:rPr lang="en-US" sz="2200" dirty="0"/>
              <a:t>, </a:t>
            </a:r>
            <a:r>
              <a:rPr lang="en-US" sz="2200" dirty="0" err="1"/>
              <a:t>employment_type</a:t>
            </a:r>
            <a:r>
              <a:rPr lang="en-US" sz="2200" dirty="0"/>
              <a:t>, country   into numerical format using One-Hot Encoding.</a:t>
            </a:r>
          </a:p>
          <a:p>
            <a:r>
              <a:rPr lang="en-US" sz="2200" dirty="0"/>
              <a:t>Ensured machine learning models can correctly interpret all non-text categorical variables.</a:t>
            </a:r>
          </a:p>
          <a:p>
            <a:r>
              <a:rPr lang="en-US" sz="2200" dirty="0"/>
              <a:t>Combined the one-hot encoded categorical features with the scaled numerical features (</a:t>
            </a:r>
            <a:r>
              <a:rPr lang="en-US" sz="2200" b="1" dirty="0"/>
              <a:t>telecommuting, </a:t>
            </a:r>
            <a:r>
              <a:rPr lang="en-US" sz="2200" b="1" dirty="0" err="1"/>
              <a:t>has_company_logo</a:t>
            </a:r>
            <a:r>
              <a:rPr lang="en-US" sz="2200" b="1" dirty="0"/>
              <a:t>, </a:t>
            </a:r>
            <a:r>
              <a:rPr lang="en-US" sz="2200" b="1" dirty="0" err="1"/>
              <a:t>has_questions</a:t>
            </a:r>
            <a:r>
              <a:rPr lang="en-US" sz="2200" dirty="0"/>
              <a:t>) to create a unified preprocessed dataset ready for model training.</a:t>
            </a:r>
          </a:p>
          <a:p>
            <a:r>
              <a:rPr lang="en-US" sz="2200" dirty="0"/>
              <a:t>Applied the same preprocessing to both training and testing datasets for consistency.</a:t>
            </a:r>
          </a:p>
          <a:p>
            <a:endParaRPr lang="en-US" sz="2200" dirty="0"/>
          </a:p>
        </p:txBody>
      </p:sp>
    </p:spTree>
    <p:extLst>
      <p:ext uri="{BB962C8B-B14F-4D97-AF65-F5344CB8AC3E}">
        <p14:creationId xmlns:p14="http://schemas.microsoft.com/office/powerpoint/2010/main" val="2914368577"/>
      </p:ext>
    </p:extLst>
  </p:cSld>
  <p:clrMapOvr>
    <a:masterClrMapping/>
  </p:clrMapOvr>
  <mc:AlternateContent xmlns:mc="http://schemas.openxmlformats.org/markup-compatibility/2006" xmlns:p14="http://schemas.microsoft.com/office/powerpoint/2010/main">
    <mc:Choice Requires="p14">
      <p:transition spd="slow" p14:dur="2000" advTm="31035"/>
    </mc:Choice>
    <mc:Fallback xmlns="">
      <p:transition spd="slow" advTm="3103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7A23A-3C17-585B-8A00-571455C060B4}"/>
              </a:ext>
            </a:extLst>
          </p:cNvPr>
          <p:cNvSpPr>
            <a:spLocks noGrp="1"/>
          </p:cNvSpPr>
          <p:nvPr>
            <p:ph type="title"/>
          </p:nvPr>
        </p:nvSpPr>
        <p:spPr>
          <a:xfrm>
            <a:off x="180848" y="713232"/>
            <a:ext cx="3600860" cy="5431536"/>
          </a:xfrm>
        </p:spPr>
        <p:txBody>
          <a:bodyPr>
            <a:normAutofit/>
          </a:bodyPr>
          <a:lstStyle/>
          <a:p>
            <a:r>
              <a:rPr lang="en-US" sz="4200" b="1" dirty="0"/>
              <a:t>SMOTE (Synthetic Minority Oversampling Technique)</a:t>
            </a:r>
            <a:br>
              <a:rPr lang="en-US" sz="4200" b="1" dirty="0"/>
            </a:br>
            <a:endParaRPr lang="en-US" sz="4200" dirty="0"/>
          </a:p>
        </p:txBody>
      </p:sp>
      <p:sp>
        <p:nvSpPr>
          <p:cNvPr id="3" name="Content Placeholder 2">
            <a:extLst>
              <a:ext uri="{FF2B5EF4-FFF2-40B4-BE49-F238E27FC236}">
                <a16:creationId xmlns:a16="http://schemas.microsoft.com/office/drawing/2014/main" id="{83EC2665-724B-A8D5-BE8F-33650FB9830A}"/>
              </a:ext>
            </a:extLst>
          </p:cNvPr>
          <p:cNvSpPr>
            <a:spLocks noGrp="1"/>
          </p:cNvSpPr>
          <p:nvPr>
            <p:ph idx="1"/>
          </p:nvPr>
        </p:nvSpPr>
        <p:spPr>
          <a:xfrm>
            <a:off x="4043680" y="795931"/>
            <a:ext cx="6890513" cy="5431536"/>
          </a:xfrm>
        </p:spPr>
        <p:txBody>
          <a:bodyPr anchor="ctr">
            <a:normAutofit/>
          </a:bodyPr>
          <a:lstStyle/>
          <a:p>
            <a:r>
              <a:rPr lang="en-US" sz="2200" dirty="0"/>
              <a:t>Addressed class imbalance in the dataset where fraudulent job postings were significantly fewer than real postings.</a:t>
            </a:r>
          </a:p>
          <a:p>
            <a:r>
              <a:rPr lang="en-US" sz="2200" dirty="0"/>
              <a:t>Applied </a:t>
            </a:r>
            <a:r>
              <a:rPr lang="en-US" sz="2200" b="1" dirty="0"/>
              <a:t>SMOTE</a:t>
            </a:r>
            <a:r>
              <a:rPr lang="en-US" sz="2200" dirty="0"/>
              <a:t> to the preprocessed training data to generate synthetic samples for the minority class.</a:t>
            </a:r>
          </a:p>
          <a:p>
            <a:r>
              <a:rPr lang="en-US" sz="2200" dirty="0"/>
              <a:t>Balanced the target variable by oversampling the fraudulent class, ensuring the model does not become biased toward predicting only real postings.</a:t>
            </a:r>
          </a:p>
          <a:p>
            <a:r>
              <a:rPr lang="en-US" sz="2200" dirty="0"/>
              <a:t>Used the balanced datasets (</a:t>
            </a:r>
            <a:r>
              <a:rPr lang="en-US" sz="2200" b="1" dirty="0" err="1"/>
              <a:t>x_train_balanced</a:t>
            </a:r>
            <a:r>
              <a:rPr lang="en-US" sz="2200" dirty="0"/>
              <a:t>, </a:t>
            </a:r>
            <a:r>
              <a:rPr lang="en-US" sz="2200" b="1" dirty="0" err="1"/>
              <a:t>y_train_balanced</a:t>
            </a:r>
            <a:r>
              <a:rPr lang="en-US" sz="2200" dirty="0"/>
              <a:t>) for training all machine learning models.</a:t>
            </a:r>
          </a:p>
          <a:p>
            <a:r>
              <a:rPr lang="en-US" sz="2200" dirty="0"/>
              <a:t>Verified the improvement by comparing class counts </a:t>
            </a:r>
            <a:r>
              <a:rPr lang="en-US" sz="2200" b="1" dirty="0"/>
              <a:t>before and after SMOTE</a:t>
            </a:r>
            <a:r>
              <a:rPr lang="en-US" sz="2200" dirty="0"/>
              <a:t>.</a:t>
            </a:r>
          </a:p>
          <a:p>
            <a:endParaRPr lang="en-US" sz="2200" dirty="0"/>
          </a:p>
        </p:txBody>
      </p:sp>
    </p:spTree>
    <p:extLst>
      <p:ext uri="{BB962C8B-B14F-4D97-AF65-F5344CB8AC3E}">
        <p14:creationId xmlns:p14="http://schemas.microsoft.com/office/powerpoint/2010/main" val="860284676"/>
      </p:ext>
    </p:extLst>
  </p:cSld>
  <p:clrMapOvr>
    <a:masterClrMapping/>
  </p:clrMapOvr>
  <mc:AlternateContent xmlns:mc="http://schemas.openxmlformats.org/markup-compatibility/2006" xmlns:p14="http://schemas.microsoft.com/office/powerpoint/2010/main">
    <mc:Choice Requires="p14">
      <p:transition spd="slow" p14:dur="2000" advTm="38628"/>
    </mc:Choice>
    <mc:Fallback xmlns="">
      <p:transition spd="slow" advTm="38628"/>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FF633-8CC7-C474-7FAB-D165716A4E96}"/>
              </a:ext>
            </a:extLst>
          </p:cNvPr>
          <p:cNvSpPr>
            <a:spLocks noGrp="1"/>
          </p:cNvSpPr>
          <p:nvPr>
            <p:ph type="title"/>
          </p:nvPr>
        </p:nvSpPr>
        <p:spPr/>
        <p:txBody>
          <a:bodyPr>
            <a:normAutofit/>
          </a:bodyPr>
          <a:lstStyle/>
          <a:p>
            <a:r>
              <a:rPr lang="en-US" sz="4800" b="1" dirty="0"/>
              <a:t>Model Evaluation</a:t>
            </a:r>
            <a:endParaRPr lang="en-US" sz="4800" dirty="0"/>
          </a:p>
        </p:txBody>
      </p:sp>
      <p:sp>
        <p:nvSpPr>
          <p:cNvPr id="3" name="Content Placeholder 2">
            <a:extLst>
              <a:ext uri="{FF2B5EF4-FFF2-40B4-BE49-F238E27FC236}">
                <a16:creationId xmlns:a16="http://schemas.microsoft.com/office/drawing/2014/main" id="{2B518C10-53BA-F2ED-7990-E0A92D8983EF}"/>
              </a:ext>
            </a:extLst>
          </p:cNvPr>
          <p:cNvSpPr>
            <a:spLocks noGrp="1"/>
          </p:cNvSpPr>
          <p:nvPr>
            <p:ph idx="1"/>
          </p:nvPr>
        </p:nvSpPr>
        <p:spPr>
          <a:xfrm>
            <a:off x="4023360" y="862584"/>
            <a:ext cx="7701280" cy="4948936"/>
          </a:xfrm>
        </p:spPr>
        <p:txBody>
          <a:bodyPr>
            <a:normAutofit/>
          </a:bodyPr>
          <a:lstStyle/>
          <a:p>
            <a:r>
              <a:rPr lang="en-US" sz="2200" dirty="0"/>
              <a:t>Multiple classification algorithms were compared to identify the best-performing model:</a:t>
            </a:r>
            <a:br>
              <a:rPr lang="en-US" sz="2200" dirty="0"/>
            </a:br>
            <a:r>
              <a:rPr lang="en-US" sz="2200" b="1" dirty="0"/>
              <a:t>Naive Bayes</a:t>
            </a:r>
            <a:r>
              <a:rPr lang="en-US" sz="2200" dirty="0"/>
              <a:t>, </a:t>
            </a:r>
            <a:r>
              <a:rPr lang="en-US" sz="2200" b="1" dirty="0"/>
              <a:t>K-Nearest Neighbors (KNN)</a:t>
            </a:r>
            <a:r>
              <a:rPr lang="en-US" sz="2200" dirty="0"/>
              <a:t>, </a:t>
            </a:r>
            <a:r>
              <a:rPr lang="en-US" sz="2200" b="1" dirty="0"/>
              <a:t>Random Forest</a:t>
            </a:r>
            <a:r>
              <a:rPr lang="en-US" sz="2200" dirty="0"/>
              <a:t>, </a:t>
            </a:r>
            <a:r>
              <a:rPr lang="en-US" sz="2200" b="1" dirty="0"/>
              <a:t>Logistic Regression</a:t>
            </a:r>
            <a:r>
              <a:rPr lang="en-US" sz="2200" dirty="0"/>
              <a:t>, and </a:t>
            </a:r>
            <a:r>
              <a:rPr lang="en-US" sz="2200" b="1" dirty="0" err="1"/>
              <a:t>XGBoost</a:t>
            </a:r>
            <a:r>
              <a:rPr lang="en-US" sz="2200" dirty="0"/>
              <a:t>.</a:t>
            </a:r>
          </a:p>
          <a:p>
            <a:r>
              <a:rPr lang="en-US" sz="2200" dirty="0"/>
              <a:t>Performance was assessed using standard evaluation metrics such as </a:t>
            </a:r>
            <a:r>
              <a:rPr lang="en-US" sz="2200" b="1" dirty="0"/>
              <a:t>Accuracy</a:t>
            </a:r>
            <a:r>
              <a:rPr lang="en-US" sz="2200" dirty="0"/>
              <a:t>, </a:t>
            </a:r>
            <a:r>
              <a:rPr lang="en-US" sz="2200" b="1" dirty="0"/>
              <a:t>Precision</a:t>
            </a:r>
            <a:r>
              <a:rPr lang="en-US" sz="2200" dirty="0"/>
              <a:t>, </a:t>
            </a:r>
            <a:r>
              <a:rPr lang="en-US" sz="2200" b="1" dirty="0"/>
              <a:t>Recall</a:t>
            </a:r>
            <a:r>
              <a:rPr lang="en-US" sz="2200" dirty="0"/>
              <a:t>, </a:t>
            </a:r>
            <a:r>
              <a:rPr lang="en-US" sz="2200" b="1" dirty="0"/>
              <a:t>F1-Score.</a:t>
            </a:r>
            <a:endParaRPr lang="en-US" sz="2200" dirty="0"/>
          </a:p>
          <a:p>
            <a:r>
              <a:rPr lang="en-US" sz="2200" dirty="0"/>
              <a:t>The comparison allowed determining which model provides the most reliable and balanced performance for fraud detection.</a:t>
            </a:r>
          </a:p>
          <a:p>
            <a:endParaRPr lang="en-US" sz="2200" dirty="0"/>
          </a:p>
        </p:txBody>
      </p:sp>
    </p:spTree>
    <p:extLst>
      <p:ext uri="{BB962C8B-B14F-4D97-AF65-F5344CB8AC3E}">
        <p14:creationId xmlns:p14="http://schemas.microsoft.com/office/powerpoint/2010/main" val="839699589"/>
      </p:ext>
    </p:extLst>
  </p:cSld>
  <p:clrMapOvr>
    <a:masterClrMapping/>
  </p:clrMapOvr>
  <mc:AlternateContent xmlns:mc="http://schemas.openxmlformats.org/markup-compatibility/2006" xmlns:p14="http://schemas.microsoft.com/office/powerpoint/2010/main">
    <mc:Choice Requires="p14">
      <p:transition spd="slow" p14:dur="2000" advTm="52088"/>
    </mc:Choice>
    <mc:Fallback xmlns="">
      <p:transition spd="slow" advTm="5208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AF682-B0A7-FEA9-EC15-4726F0DBED07}"/>
              </a:ext>
            </a:extLst>
          </p:cNvPr>
          <p:cNvSpPr>
            <a:spLocks noGrp="1"/>
          </p:cNvSpPr>
          <p:nvPr>
            <p:ph type="title"/>
          </p:nvPr>
        </p:nvSpPr>
        <p:spPr>
          <a:xfrm>
            <a:off x="164749" y="800059"/>
            <a:ext cx="3571810" cy="3573516"/>
          </a:xfrm>
        </p:spPr>
        <p:txBody>
          <a:bodyPr vert="horz" lIns="91440" tIns="45720" rIns="91440" bIns="45720" rtlCol="0" anchor="b">
            <a:normAutofit/>
          </a:bodyPr>
          <a:lstStyle/>
          <a:p>
            <a:r>
              <a:rPr lang="en-US" sz="5600" kern="1200" dirty="0">
                <a:solidFill>
                  <a:schemeClr val="bg1"/>
                </a:solidFill>
                <a:latin typeface="+mj-lt"/>
                <a:ea typeface="+mj-ea"/>
                <a:cs typeface="+mj-cs"/>
              </a:rPr>
              <a:t>Model Accuracies</a:t>
            </a:r>
          </a:p>
        </p:txBody>
      </p:sp>
      <p:pic>
        <p:nvPicPr>
          <p:cNvPr id="4" name="Picture 3">
            <a:extLst>
              <a:ext uri="{FF2B5EF4-FFF2-40B4-BE49-F238E27FC236}">
                <a16:creationId xmlns:a16="http://schemas.microsoft.com/office/drawing/2014/main" id="{BECBD43B-3A86-12FD-5726-60E97208A13B}"/>
              </a:ext>
            </a:extLst>
          </p:cNvPr>
          <p:cNvPicPr>
            <a:picLocks noChangeAspect="1"/>
          </p:cNvPicPr>
          <p:nvPr/>
        </p:nvPicPr>
        <p:blipFill>
          <a:blip r:embed="rId3"/>
          <a:stretch>
            <a:fillRect/>
          </a:stretch>
        </p:blipFill>
        <p:spPr>
          <a:xfrm>
            <a:off x="3736559" y="976618"/>
            <a:ext cx="7961703" cy="5034716"/>
          </a:xfrm>
          <a:prstGeom prst="rect">
            <a:avLst/>
          </a:prstGeom>
        </p:spPr>
      </p:pic>
    </p:spTree>
    <p:extLst>
      <p:ext uri="{BB962C8B-B14F-4D97-AF65-F5344CB8AC3E}">
        <p14:creationId xmlns:p14="http://schemas.microsoft.com/office/powerpoint/2010/main" val="3806172127"/>
      </p:ext>
    </p:extLst>
  </p:cSld>
  <p:clrMapOvr>
    <a:masterClrMapping/>
  </p:clrMapOvr>
  <mc:AlternateContent xmlns:mc="http://schemas.openxmlformats.org/markup-compatibility/2006" xmlns:p14="http://schemas.microsoft.com/office/powerpoint/2010/main">
    <mc:Choice Requires="p14">
      <p:transition spd="slow" p14:dur="2000" advTm="48427"/>
    </mc:Choice>
    <mc:Fallback xmlns="">
      <p:transition spd="slow" advTm="4842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graph of a number of different colored bars&#10;&#10;AI-generated content may be incorrect.">
            <a:extLst>
              <a:ext uri="{FF2B5EF4-FFF2-40B4-BE49-F238E27FC236}">
                <a16:creationId xmlns:a16="http://schemas.microsoft.com/office/drawing/2014/main" id="{8934D49E-DE71-BC6E-E858-3660C751F7FD}"/>
              </a:ext>
            </a:extLst>
          </p:cNvPr>
          <p:cNvPicPr>
            <a:picLocks noChangeAspect="1"/>
          </p:cNvPicPr>
          <p:nvPr/>
        </p:nvPicPr>
        <p:blipFill>
          <a:blip r:embed="rId3"/>
          <a:stretch>
            <a:fillRect/>
          </a:stretch>
        </p:blipFill>
        <p:spPr>
          <a:xfrm>
            <a:off x="794805" y="783319"/>
            <a:ext cx="10602391" cy="5248182"/>
          </a:xfrm>
          <a:prstGeom prst="rect">
            <a:avLst/>
          </a:prstGeom>
        </p:spPr>
      </p:pic>
    </p:spTree>
    <p:extLst>
      <p:ext uri="{BB962C8B-B14F-4D97-AF65-F5344CB8AC3E}">
        <p14:creationId xmlns:p14="http://schemas.microsoft.com/office/powerpoint/2010/main" val="2847318429"/>
      </p:ext>
    </p:extLst>
  </p:cSld>
  <p:clrMapOvr>
    <a:masterClrMapping/>
  </p:clrMapOvr>
  <mc:AlternateContent xmlns:mc="http://schemas.openxmlformats.org/markup-compatibility/2006" xmlns:p14="http://schemas.microsoft.com/office/powerpoint/2010/main">
    <mc:Choice Requires="p14">
      <p:transition spd="slow" p14:dur="2000" advTm="49207"/>
    </mc:Choice>
    <mc:Fallback xmlns="">
      <p:transition spd="slow" advTm="49207"/>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6D0C2-3ABA-A8FA-4090-CADC202E937C}"/>
              </a:ext>
            </a:extLst>
          </p:cNvPr>
          <p:cNvSpPr>
            <a:spLocks noGrp="1"/>
          </p:cNvSpPr>
          <p:nvPr>
            <p:ph type="title"/>
          </p:nvPr>
        </p:nvSpPr>
        <p:spPr/>
        <p:txBody>
          <a:bodyPr>
            <a:normAutofit/>
          </a:bodyPr>
          <a:lstStyle/>
          <a:p>
            <a:r>
              <a:rPr lang="en-US" sz="4200" b="1" dirty="0"/>
              <a:t>LLM Embedding + Classical Classifier</a:t>
            </a:r>
            <a:br>
              <a:rPr lang="en-US" sz="4200" b="1" dirty="0"/>
            </a:br>
            <a:endParaRPr lang="en-US" sz="4200" dirty="0"/>
          </a:p>
        </p:txBody>
      </p:sp>
      <p:sp>
        <p:nvSpPr>
          <p:cNvPr id="19" name="Content Placeholder 2">
            <a:extLst>
              <a:ext uri="{FF2B5EF4-FFF2-40B4-BE49-F238E27FC236}">
                <a16:creationId xmlns:a16="http://schemas.microsoft.com/office/drawing/2014/main" id="{D51BAF05-51AC-FC6A-2A84-85BF122196A7}"/>
              </a:ext>
            </a:extLst>
          </p:cNvPr>
          <p:cNvSpPr>
            <a:spLocks noGrp="1"/>
          </p:cNvSpPr>
          <p:nvPr>
            <p:ph idx="1"/>
          </p:nvPr>
        </p:nvSpPr>
        <p:spPr>
          <a:xfrm>
            <a:off x="3767666" y="1123837"/>
            <a:ext cx="7738534" cy="4760496"/>
          </a:xfrm>
        </p:spPr>
        <p:txBody>
          <a:bodyPr>
            <a:normAutofit/>
          </a:bodyPr>
          <a:lstStyle/>
          <a:p>
            <a:r>
              <a:rPr lang="en-US" sz="2200" dirty="0"/>
              <a:t>Used a </a:t>
            </a:r>
            <a:r>
              <a:rPr lang="en-US" sz="2200" b="1" dirty="0"/>
              <a:t>Sentence-Transformer model</a:t>
            </a:r>
            <a:r>
              <a:rPr lang="en-US" sz="2200" dirty="0"/>
              <a:t> ( </a:t>
            </a:r>
            <a:r>
              <a:rPr lang="en-US" sz="2200" i="1" dirty="0"/>
              <a:t>all-MiniLM-L6-v2</a:t>
            </a:r>
            <a:r>
              <a:rPr lang="en-US" sz="2200" dirty="0"/>
              <a:t>) to convert the </a:t>
            </a:r>
            <a:r>
              <a:rPr lang="en-US" sz="2200" b="1" dirty="0"/>
              <a:t>preprocessed job posting text</a:t>
            </a:r>
            <a:r>
              <a:rPr lang="en-US" sz="2200" dirty="0"/>
              <a:t> into dense vector embeddings.</a:t>
            </a:r>
          </a:p>
          <a:p>
            <a:r>
              <a:rPr lang="en-US" sz="2200" dirty="0"/>
              <a:t>Trained traditional machine learning classifiers such as </a:t>
            </a:r>
            <a:r>
              <a:rPr lang="en-US" sz="2200" b="1" dirty="0"/>
              <a:t>Logistic Regression</a:t>
            </a:r>
            <a:r>
              <a:rPr lang="en-US" sz="2200" dirty="0"/>
              <a:t>, </a:t>
            </a:r>
            <a:r>
              <a:rPr lang="en-US" sz="2200" b="1" dirty="0"/>
              <a:t>Random Forest</a:t>
            </a:r>
            <a:r>
              <a:rPr lang="en-US" sz="2200" dirty="0"/>
              <a:t>, and </a:t>
            </a:r>
            <a:r>
              <a:rPr lang="en-US" sz="2200" b="1" dirty="0" err="1"/>
              <a:t>XGBoost</a:t>
            </a:r>
            <a:r>
              <a:rPr lang="en-US" sz="2200" dirty="0"/>
              <a:t> directly on these embeddings.</a:t>
            </a:r>
          </a:p>
          <a:p>
            <a:r>
              <a:rPr lang="en-US" sz="2200" dirty="0"/>
              <a:t>This approach provides a </a:t>
            </a:r>
            <a:r>
              <a:rPr lang="en-US" sz="2200" b="1" dirty="0"/>
              <a:t>fast, low-resource</a:t>
            </a:r>
            <a:r>
              <a:rPr lang="en-US" sz="2200" dirty="0"/>
              <a:t> alternative to full LLM fine-tuning while maintaining strong performance.</a:t>
            </a:r>
          </a:p>
          <a:p>
            <a:r>
              <a:rPr lang="en-US" sz="2200" dirty="0"/>
              <a:t>A fast, low-resource, and interpretable approach using LLM embeddings with classical classifiers. It enables quick training and deployment while allowing direct comparison with TF-IDF models, making it a strong baseline for fraud detection.</a:t>
            </a:r>
          </a:p>
        </p:txBody>
      </p:sp>
    </p:spTree>
    <p:extLst>
      <p:ext uri="{BB962C8B-B14F-4D97-AF65-F5344CB8AC3E}">
        <p14:creationId xmlns:p14="http://schemas.microsoft.com/office/powerpoint/2010/main" val="4018825647"/>
      </p:ext>
    </p:extLst>
  </p:cSld>
  <p:clrMapOvr>
    <a:masterClrMapping/>
  </p:clrMapOvr>
  <mc:AlternateContent xmlns:mc="http://schemas.openxmlformats.org/markup-compatibility/2006" xmlns:p14="http://schemas.microsoft.com/office/powerpoint/2010/main">
    <mc:Choice Requires="p14">
      <p:transition spd="slow" p14:dur="2000" advTm="108328"/>
    </mc:Choice>
    <mc:Fallback xmlns="">
      <p:transition spd="slow" advTm="108328"/>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1D58851-5D68-FD58-6165-02302DDFA343}"/>
              </a:ext>
            </a:extLst>
          </p:cNvPr>
          <p:cNvPicPr>
            <a:picLocks noChangeAspect="1"/>
          </p:cNvPicPr>
          <p:nvPr/>
        </p:nvPicPr>
        <p:blipFill>
          <a:blip r:embed="rId3"/>
          <a:stretch>
            <a:fillRect/>
          </a:stretch>
        </p:blipFill>
        <p:spPr>
          <a:xfrm>
            <a:off x="423331" y="233680"/>
            <a:ext cx="5535397" cy="4744720"/>
          </a:xfrm>
          <a:prstGeom prst="rect">
            <a:avLst/>
          </a:prstGeom>
        </p:spPr>
      </p:pic>
      <p:pic>
        <p:nvPicPr>
          <p:cNvPr id="6" name="Picture 5">
            <a:extLst>
              <a:ext uri="{FF2B5EF4-FFF2-40B4-BE49-F238E27FC236}">
                <a16:creationId xmlns:a16="http://schemas.microsoft.com/office/drawing/2014/main" id="{2C15A3D9-3B09-F3BA-55D0-AF103653EC4E}"/>
              </a:ext>
            </a:extLst>
          </p:cNvPr>
          <p:cNvPicPr>
            <a:picLocks noChangeAspect="1"/>
          </p:cNvPicPr>
          <p:nvPr/>
        </p:nvPicPr>
        <p:blipFill>
          <a:blip r:embed="rId4"/>
          <a:stretch>
            <a:fillRect/>
          </a:stretch>
        </p:blipFill>
        <p:spPr>
          <a:xfrm>
            <a:off x="6119594" y="1798321"/>
            <a:ext cx="5535397" cy="4744720"/>
          </a:xfrm>
          <a:prstGeom prst="rect">
            <a:avLst/>
          </a:prstGeom>
        </p:spPr>
      </p:pic>
    </p:spTree>
    <p:extLst>
      <p:ext uri="{BB962C8B-B14F-4D97-AF65-F5344CB8AC3E}">
        <p14:creationId xmlns:p14="http://schemas.microsoft.com/office/powerpoint/2010/main" val="2830626733"/>
      </p:ext>
    </p:extLst>
  </p:cSld>
  <p:clrMapOvr>
    <a:masterClrMapping/>
  </p:clrMapOvr>
  <mc:AlternateContent xmlns:mc="http://schemas.openxmlformats.org/markup-compatibility/2006" xmlns:p14="http://schemas.microsoft.com/office/powerpoint/2010/main">
    <mc:Choice Requires="p14">
      <p:transition spd="slow" p14:dur="2000" advTm="79350"/>
    </mc:Choice>
    <mc:Fallback xmlns="">
      <p:transition spd="slow" advTm="79350"/>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AA871-BFFE-57C6-8E09-6871AF8230AC}"/>
              </a:ext>
            </a:extLst>
          </p:cNvPr>
          <p:cNvSpPr>
            <a:spLocks noGrp="1"/>
          </p:cNvSpPr>
          <p:nvPr>
            <p:ph type="title"/>
          </p:nvPr>
        </p:nvSpPr>
        <p:spPr>
          <a:xfrm>
            <a:off x="388113" y="1959187"/>
            <a:ext cx="2261954" cy="2494280"/>
          </a:xfrm>
        </p:spPr>
        <p:txBody>
          <a:bodyPr>
            <a:normAutofit fontScale="90000"/>
          </a:bodyPr>
          <a:lstStyle/>
          <a:p>
            <a:r>
              <a:rPr lang="en-US" dirty="0"/>
              <a:t>Future Scope</a:t>
            </a:r>
            <a:br>
              <a:rPr lang="en-US" dirty="0"/>
            </a:br>
            <a:endParaRPr lang="en-US" dirty="0"/>
          </a:p>
        </p:txBody>
      </p:sp>
      <p:sp>
        <p:nvSpPr>
          <p:cNvPr id="3" name="Text Placeholder 2">
            <a:extLst>
              <a:ext uri="{FF2B5EF4-FFF2-40B4-BE49-F238E27FC236}">
                <a16:creationId xmlns:a16="http://schemas.microsoft.com/office/drawing/2014/main" id="{EF891924-5304-2A72-DF75-D0E77D6D675C}"/>
              </a:ext>
            </a:extLst>
          </p:cNvPr>
          <p:cNvSpPr>
            <a:spLocks noGrp="1"/>
          </p:cNvSpPr>
          <p:nvPr>
            <p:ph type="body" idx="1"/>
          </p:nvPr>
        </p:nvSpPr>
        <p:spPr>
          <a:xfrm>
            <a:off x="3903133" y="1083225"/>
            <a:ext cx="7315200" cy="4691549"/>
          </a:xfrm>
        </p:spPr>
        <p:txBody>
          <a:bodyPr>
            <a:noAutofit/>
          </a:bodyPr>
          <a:lstStyle/>
          <a:p>
            <a:pPr marL="571500" indent="-571500">
              <a:buFont typeface="Arial" panose="020B0604020202020204" pitchFamily="34" charset="0"/>
              <a:buChar char="•"/>
            </a:pPr>
            <a:r>
              <a:rPr lang="en-US" sz="2800" dirty="0"/>
              <a:t>Deploy the model as a real-time web application or API for detecting fake job postings.</a:t>
            </a:r>
          </a:p>
          <a:p>
            <a:pPr marL="571500" indent="-571500">
              <a:buFont typeface="Arial" panose="020B0604020202020204" pitchFamily="34" charset="0"/>
              <a:buChar char="•"/>
            </a:pPr>
            <a:r>
              <a:rPr lang="en-US" sz="2800" dirty="0"/>
              <a:t>Explore advanced NLP models like BERT.</a:t>
            </a:r>
          </a:p>
          <a:p>
            <a:pPr marL="571500" indent="-571500">
              <a:buFont typeface="Arial" panose="020B0604020202020204" pitchFamily="34" charset="0"/>
              <a:buChar char="•"/>
            </a:pPr>
            <a:r>
              <a:rPr lang="en-US" sz="2800" dirty="0"/>
              <a:t>Continuously retrain the model with updated and larger datasets as fraud patterns evolve.</a:t>
            </a:r>
          </a:p>
        </p:txBody>
      </p:sp>
    </p:spTree>
    <p:extLst>
      <p:ext uri="{BB962C8B-B14F-4D97-AF65-F5344CB8AC3E}">
        <p14:creationId xmlns:p14="http://schemas.microsoft.com/office/powerpoint/2010/main" val="3671400728"/>
      </p:ext>
    </p:extLst>
  </p:cSld>
  <p:clrMapOvr>
    <a:masterClrMapping/>
  </p:clrMapOvr>
  <mc:AlternateContent xmlns:mc="http://schemas.openxmlformats.org/markup-compatibility/2006" xmlns:p14="http://schemas.microsoft.com/office/powerpoint/2010/main">
    <mc:Choice Requires="p14">
      <p:transition spd="slow" p14:dur="2000" advTm="107960"/>
    </mc:Choice>
    <mc:Fallback xmlns="">
      <p:transition spd="slow" advTm="107960"/>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 name="Rectangle 7">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9" name="Rectangle 8">
            <a:extLst>
              <a:ext uri="{FF2B5EF4-FFF2-40B4-BE49-F238E27FC236}">
                <a16:creationId xmlns:a16="http://schemas.microsoft.com/office/drawing/2014/main" id="{07CBBDD0-4420-4A50-96AB-392F9B97CF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65BA403-54B9-4A0B-BC79-028C495C0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7552943"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F1A0205D-B585-6B42-1C1C-6893792E6659}"/>
              </a:ext>
            </a:extLst>
          </p:cNvPr>
          <p:cNvSpPr>
            <a:spLocks noGrp="1"/>
          </p:cNvSpPr>
          <p:nvPr>
            <p:ph type="title"/>
          </p:nvPr>
        </p:nvSpPr>
        <p:spPr>
          <a:xfrm>
            <a:off x="1069848" y="1298448"/>
            <a:ext cx="6068070" cy="3255264"/>
          </a:xfrm>
        </p:spPr>
        <p:txBody>
          <a:bodyPr vert="horz" lIns="91440" tIns="45720" rIns="91440" bIns="45720" rtlCol="0" anchor="b">
            <a:normAutofit/>
          </a:bodyPr>
          <a:lstStyle/>
          <a:p>
            <a:r>
              <a:rPr lang="en-US" sz="5900" spc="-100"/>
              <a:t>Thank You</a:t>
            </a:r>
          </a:p>
        </p:txBody>
      </p:sp>
      <p:pic>
        <p:nvPicPr>
          <p:cNvPr id="6" name="Graphic 5" descr="Smiling Face with No Fill">
            <a:extLst>
              <a:ext uri="{FF2B5EF4-FFF2-40B4-BE49-F238E27FC236}">
                <a16:creationId xmlns:a16="http://schemas.microsoft.com/office/drawing/2014/main" id="{808246C5-796A-6049-208D-A7BE9AA5719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37574" y="1695799"/>
            <a:ext cx="3458249" cy="3458249"/>
          </a:xfrm>
          <a:prstGeom prst="rect">
            <a:avLst/>
          </a:prstGeom>
        </p:spPr>
      </p:pic>
      <p:sp>
        <p:nvSpPr>
          <p:cNvPr id="19" name="Rectangle 18">
            <a:extLst>
              <a:ext uri="{FF2B5EF4-FFF2-40B4-BE49-F238E27FC236}">
                <a16:creationId xmlns:a16="http://schemas.microsoft.com/office/drawing/2014/main" id="{DC8C6883-513A-4FE8-8B55-7AA2A13A9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34573680"/>
      </p:ext>
    </p:extLst>
  </p:cSld>
  <p:clrMapOvr>
    <a:masterClrMapping/>
  </p:clrMapOvr>
  <mc:AlternateContent xmlns:mc="http://schemas.openxmlformats.org/markup-compatibility/2006" xmlns:p14="http://schemas.microsoft.com/office/powerpoint/2010/main">
    <mc:Choice Requires="p14">
      <p:transition spd="slow" p14:dur="2000" advTm="3029"/>
    </mc:Choice>
    <mc:Fallback xmlns="">
      <p:transition spd="slow" advTm="3029"/>
    </mc:Fallback>
  </mc:AlternateContent>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Frame</Template>
  <TotalTime>713</TotalTime>
  <Words>2044</Words>
  <Application>Microsoft Office PowerPoint</Application>
  <PresentationFormat>Widescreen</PresentationFormat>
  <Paragraphs>123</Paragraphs>
  <Slides>18</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-apple-system</vt:lpstr>
      <vt:lpstr>Aptos</vt:lpstr>
      <vt:lpstr>Arial</vt:lpstr>
      <vt:lpstr>Corbel</vt:lpstr>
      <vt:lpstr>Wingdings 2</vt:lpstr>
      <vt:lpstr>Frame</vt:lpstr>
      <vt:lpstr>Fake Job Posting Prediction </vt:lpstr>
      <vt:lpstr>Problem Statement</vt:lpstr>
      <vt:lpstr>Methdology</vt:lpstr>
      <vt:lpstr>Dataset.</vt:lpstr>
      <vt:lpstr>Exploratory data analysis</vt:lpstr>
      <vt:lpstr>EDA</vt:lpstr>
      <vt:lpstr>Heatmap</vt:lpstr>
      <vt:lpstr>EDA</vt:lpstr>
      <vt:lpstr>Word count</vt:lpstr>
      <vt:lpstr>One-Hot Encoding </vt:lpstr>
      <vt:lpstr>SMOTE (Synthetic Minority Oversampling Technique) </vt:lpstr>
      <vt:lpstr>Model Evaluation</vt:lpstr>
      <vt:lpstr>Model Accuracies</vt:lpstr>
      <vt:lpstr>PowerPoint Presentation</vt:lpstr>
      <vt:lpstr>LLM Embedding + Classical Classifier </vt:lpstr>
      <vt:lpstr>PowerPoint Presentation</vt:lpstr>
      <vt:lpstr>Future Scope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satya gannapureddy</dc:creator>
  <cp:lastModifiedBy>satya gannapureddy</cp:lastModifiedBy>
  <cp:revision>1</cp:revision>
  <dcterms:created xsi:type="dcterms:W3CDTF">2025-11-20T18:01:30Z</dcterms:created>
  <dcterms:modified xsi:type="dcterms:W3CDTF">2025-12-14T23:27:02Z</dcterms:modified>
</cp:coreProperties>
</file>